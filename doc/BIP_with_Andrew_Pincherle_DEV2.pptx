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57" r:id="rId5"/>
    <p:sldId id="262" r:id="rId6"/>
    <p:sldId id="278" r:id="rId7"/>
    <p:sldId id="279" r:id="rId8"/>
    <p:sldId id="280"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7F5619F-48E9-456A-B7D8-CDCD7BF0231A}" v="1" dt="2025-11-07T09:22:28.624"/>
    <p1510:client id="{82283391-55D2-4FA8-B4D2-6BB480B553EA}" v="3" dt="2025-11-07T14:31:30.475"/>
    <p1510:client id="{83B2DD3D-C812-47C7-83C7-D63B39214C71}" v="20" dt="2025-11-06T16:17:41.40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223" autoAdjust="0"/>
    <p:restoredTop sz="94652"/>
  </p:normalViewPr>
  <p:slideViewPr>
    <p:cSldViewPr snapToGrid="0">
      <p:cViewPr varScale="1">
        <p:scale>
          <a:sx n="67" d="100"/>
          <a:sy n="67" d="100"/>
        </p:scale>
        <p:origin x="129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viewProps" Target="viewProps.xml"/><Relationship Id="rId5" Type="http://schemas.openxmlformats.org/officeDocument/2006/relationships/slide" Target="slides/slide1.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B2240"/>
          </a:solidFill>
        </p:spPr>
        <p:txBody>
          <a:bodyPr wrap="square" lIns="0" tIns="0" rIns="0" bIns="0" rtlCol="0"/>
          <a:lstStyle/>
          <a:p>
            <a:endParaRPr/>
          </a:p>
        </p:txBody>
      </p:sp>
      <p:pic>
        <p:nvPicPr>
          <p:cNvPr id="17" name="bg object 17"/>
          <p:cNvPicPr/>
          <p:nvPr/>
        </p:nvPicPr>
        <p:blipFill>
          <a:blip r:embed="rId2" cstate="print"/>
          <a:stretch>
            <a:fillRect/>
          </a:stretch>
        </p:blipFill>
        <p:spPr>
          <a:xfrm>
            <a:off x="279234" y="582891"/>
            <a:ext cx="629907" cy="439575"/>
          </a:xfrm>
          <a:prstGeom prst="rect">
            <a:avLst/>
          </a:prstGeom>
        </p:spPr>
      </p:pic>
      <p:pic>
        <p:nvPicPr>
          <p:cNvPr id="18" name="bg object 18"/>
          <p:cNvPicPr/>
          <p:nvPr/>
        </p:nvPicPr>
        <p:blipFill>
          <a:blip r:embed="rId3" cstate="print"/>
          <a:stretch>
            <a:fillRect/>
          </a:stretch>
        </p:blipFill>
        <p:spPr>
          <a:xfrm>
            <a:off x="9083675" y="0"/>
            <a:ext cx="3108324" cy="6857999"/>
          </a:xfrm>
          <a:prstGeom prst="rect">
            <a:avLst/>
          </a:prstGeom>
        </p:spPr>
      </p:pic>
      <p:sp>
        <p:nvSpPr>
          <p:cNvPr id="2" name="Holder 2"/>
          <p:cNvSpPr>
            <a:spLocks noGrp="1"/>
          </p:cNvSpPr>
          <p:nvPr>
            <p:ph type="ctrTitle"/>
          </p:nvPr>
        </p:nvSpPr>
        <p:spPr>
          <a:xfrm>
            <a:off x="73884" y="2459173"/>
            <a:ext cx="4787900" cy="848360"/>
          </a:xfrm>
          <a:prstGeom prst="rect">
            <a:avLst/>
          </a:prstGeom>
        </p:spPr>
        <p:txBody>
          <a:bodyPr wrap="square" lIns="0" tIns="0" rIns="0" bIns="0">
            <a:spAutoFit/>
          </a:bodyPr>
          <a:lstStyle>
            <a:lvl1pPr>
              <a:defRPr sz="1600" b="1" i="0">
                <a:solidFill>
                  <a:srgbClr val="171717"/>
                </a:solidFill>
                <a:latin typeface="Gill Sans MT"/>
                <a:cs typeface="Gill Sans MT"/>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11/7/2025</a:t>
            </a:fld>
            <a:endParaRPr lang="en-US"/>
          </a:p>
        </p:txBody>
      </p:sp>
      <p:sp>
        <p:nvSpPr>
          <p:cNvPr id="6" name="Holder 6"/>
          <p:cNvSpPr>
            <a:spLocks noGrp="1"/>
          </p:cNvSpPr>
          <p:nvPr>
            <p:ph type="sldNum" sz="quarter" idx="7"/>
          </p:nvPr>
        </p:nvSpPr>
        <p:spPr/>
        <p:txBody>
          <a:bodyPr lIns="0" tIns="0" rIns="0" bIns="0"/>
          <a:lstStyle>
            <a:lvl1pPr>
              <a:defRPr sz="800" b="0" i="0">
                <a:solidFill>
                  <a:srgbClr val="0B2240"/>
                </a:solidFill>
                <a:latin typeface="Gill Sans MT"/>
                <a:cs typeface="Gill Sans MT"/>
              </a:defRPr>
            </a:lvl1pPr>
          </a:lstStyle>
          <a:p>
            <a:pPr marL="38100">
              <a:lnSpc>
                <a:spcPct val="100000"/>
              </a:lnSpc>
              <a:spcBef>
                <a:spcPts val="45"/>
              </a:spcBef>
            </a:pPr>
            <a:fld id="{81D60167-4931-47E6-BA6A-407CBD079E47}" type="slidenum">
              <a:rPr spc="35" dirty="0"/>
              <a:t>‹#›</a:t>
            </a:fld>
            <a:endParaRPr spc="35" dirty="0"/>
          </a:p>
        </p:txBody>
      </p:sp>
    </p:spTree>
    <p:extLst>
      <p:ext uri="{BB962C8B-B14F-4D97-AF65-F5344CB8AC3E}">
        <p14:creationId xmlns:p14="http://schemas.microsoft.com/office/powerpoint/2010/main" val="34632093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1" i="0">
                <a:solidFill>
                  <a:srgbClr val="171717"/>
                </a:solidFill>
                <a:latin typeface="Gill Sans MT"/>
                <a:cs typeface="Gill Sans MT"/>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11/7/2025</a:t>
            </a:fld>
            <a:endParaRPr lang="en-US"/>
          </a:p>
        </p:txBody>
      </p:sp>
      <p:sp>
        <p:nvSpPr>
          <p:cNvPr id="6" name="Holder 6"/>
          <p:cNvSpPr>
            <a:spLocks noGrp="1"/>
          </p:cNvSpPr>
          <p:nvPr>
            <p:ph type="sldNum" sz="quarter" idx="7"/>
          </p:nvPr>
        </p:nvSpPr>
        <p:spPr/>
        <p:txBody>
          <a:bodyPr lIns="0" tIns="0" rIns="0" bIns="0"/>
          <a:lstStyle>
            <a:lvl1pPr>
              <a:defRPr sz="800" b="0" i="0">
                <a:solidFill>
                  <a:srgbClr val="0B2240"/>
                </a:solidFill>
                <a:latin typeface="Gill Sans MT"/>
                <a:cs typeface="Gill Sans MT"/>
              </a:defRPr>
            </a:lvl1pPr>
          </a:lstStyle>
          <a:p>
            <a:pPr marL="38100">
              <a:lnSpc>
                <a:spcPct val="100000"/>
              </a:lnSpc>
              <a:spcBef>
                <a:spcPts val="45"/>
              </a:spcBef>
            </a:pPr>
            <a:fld id="{81D60167-4931-47E6-BA6A-407CBD079E47}" type="slidenum">
              <a:rPr spc="35" dirty="0"/>
              <a:t>‹#›</a:t>
            </a:fld>
            <a:endParaRPr spc="35" dirty="0"/>
          </a:p>
        </p:txBody>
      </p:sp>
    </p:spTree>
    <p:extLst>
      <p:ext uri="{BB962C8B-B14F-4D97-AF65-F5344CB8AC3E}">
        <p14:creationId xmlns:p14="http://schemas.microsoft.com/office/powerpoint/2010/main" val="1877099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1" i="0">
                <a:solidFill>
                  <a:srgbClr val="171717"/>
                </a:solidFill>
                <a:latin typeface="Gill Sans MT"/>
                <a:cs typeface="Gill Sans MT"/>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11/7/2025</a:t>
            </a:fld>
            <a:endParaRPr lang="en-US"/>
          </a:p>
        </p:txBody>
      </p:sp>
      <p:sp>
        <p:nvSpPr>
          <p:cNvPr id="7" name="Holder 7"/>
          <p:cNvSpPr>
            <a:spLocks noGrp="1"/>
          </p:cNvSpPr>
          <p:nvPr>
            <p:ph type="sldNum" sz="quarter" idx="7"/>
          </p:nvPr>
        </p:nvSpPr>
        <p:spPr/>
        <p:txBody>
          <a:bodyPr lIns="0" tIns="0" rIns="0" bIns="0"/>
          <a:lstStyle>
            <a:lvl1pPr>
              <a:defRPr sz="800" b="0" i="0">
                <a:solidFill>
                  <a:srgbClr val="0B2240"/>
                </a:solidFill>
                <a:latin typeface="Gill Sans MT"/>
                <a:cs typeface="Gill Sans MT"/>
              </a:defRPr>
            </a:lvl1pPr>
          </a:lstStyle>
          <a:p>
            <a:pPr marL="38100">
              <a:lnSpc>
                <a:spcPct val="100000"/>
              </a:lnSpc>
              <a:spcBef>
                <a:spcPts val="45"/>
              </a:spcBef>
            </a:pPr>
            <a:fld id="{81D60167-4931-47E6-BA6A-407CBD079E47}" type="slidenum">
              <a:rPr spc="35" dirty="0"/>
              <a:t>‹#›</a:t>
            </a:fld>
            <a:endParaRPr spc="35" dirty="0"/>
          </a:p>
        </p:txBody>
      </p:sp>
    </p:spTree>
    <p:extLst>
      <p:ext uri="{BB962C8B-B14F-4D97-AF65-F5344CB8AC3E}">
        <p14:creationId xmlns:p14="http://schemas.microsoft.com/office/powerpoint/2010/main" val="928062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1" i="0">
                <a:solidFill>
                  <a:srgbClr val="171717"/>
                </a:solidFill>
                <a:latin typeface="Gill Sans MT"/>
                <a:cs typeface="Gill Sans MT"/>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11/7/2025</a:t>
            </a:fld>
            <a:endParaRPr lang="en-US"/>
          </a:p>
        </p:txBody>
      </p:sp>
      <p:sp>
        <p:nvSpPr>
          <p:cNvPr id="5" name="Holder 5"/>
          <p:cNvSpPr>
            <a:spLocks noGrp="1"/>
          </p:cNvSpPr>
          <p:nvPr>
            <p:ph type="sldNum" sz="quarter" idx="7"/>
          </p:nvPr>
        </p:nvSpPr>
        <p:spPr/>
        <p:txBody>
          <a:bodyPr lIns="0" tIns="0" rIns="0" bIns="0"/>
          <a:lstStyle>
            <a:lvl1pPr>
              <a:defRPr sz="800" b="0" i="0">
                <a:solidFill>
                  <a:srgbClr val="0B2240"/>
                </a:solidFill>
                <a:latin typeface="Gill Sans MT"/>
                <a:cs typeface="Gill Sans MT"/>
              </a:defRPr>
            </a:lvl1pPr>
          </a:lstStyle>
          <a:p>
            <a:pPr marL="38100">
              <a:lnSpc>
                <a:spcPct val="100000"/>
              </a:lnSpc>
              <a:spcBef>
                <a:spcPts val="45"/>
              </a:spcBef>
            </a:pPr>
            <a:fld id="{81D60167-4931-47E6-BA6A-407CBD079E47}" type="slidenum">
              <a:rPr spc="35" dirty="0"/>
              <a:t>‹#›</a:t>
            </a:fld>
            <a:endParaRPr spc="35" dirty="0"/>
          </a:p>
        </p:txBody>
      </p:sp>
    </p:spTree>
    <p:extLst>
      <p:ext uri="{BB962C8B-B14F-4D97-AF65-F5344CB8AC3E}">
        <p14:creationId xmlns:p14="http://schemas.microsoft.com/office/powerpoint/2010/main" val="30248042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11/7/2025</a:t>
            </a:fld>
            <a:endParaRPr lang="en-US"/>
          </a:p>
        </p:txBody>
      </p:sp>
      <p:sp>
        <p:nvSpPr>
          <p:cNvPr id="4" name="Holder 4"/>
          <p:cNvSpPr>
            <a:spLocks noGrp="1"/>
          </p:cNvSpPr>
          <p:nvPr>
            <p:ph type="sldNum" sz="quarter" idx="7"/>
          </p:nvPr>
        </p:nvSpPr>
        <p:spPr/>
        <p:txBody>
          <a:bodyPr lIns="0" tIns="0" rIns="0" bIns="0"/>
          <a:lstStyle>
            <a:lvl1pPr>
              <a:defRPr sz="800" b="0" i="0">
                <a:solidFill>
                  <a:srgbClr val="0B2240"/>
                </a:solidFill>
                <a:latin typeface="Gill Sans MT"/>
                <a:cs typeface="Gill Sans MT"/>
              </a:defRPr>
            </a:lvl1pPr>
          </a:lstStyle>
          <a:p>
            <a:pPr marL="38100">
              <a:lnSpc>
                <a:spcPct val="100000"/>
              </a:lnSpc>
              <a:spcBef>
                <a:spcPts val="45"/>
              </a:spcBef>
            </a:pPr>
            <a:fld id="{81D60167-4931-47E6-BA6A-407CBD079E47}" type="slidenum">
              <a:rPr spc="35" dirty="0"/>
              <a:t>‹#›</a:t>
            </a:fld>
            <a:endParaRPr spc="35" dirty="0"/>
          </a:p>
        </p:txBody>
      </p:sp>
    </p:spTree>
    <p:extLst>
      <p:ext uri="{BB962C8B-B14F-4D97-AF65-F5344CB8AC3E}">
        <p14:creationId xmlns:p14="http://schemas.microsoft.com/office/powerpoint/2010/main" val="378789424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453901" y="6215432"/>
            <a:ext cx="738831" cy="481556"/>
          </a:xfrm>
          <a:prstGeom prst="rect">
            <a:avLst/>
          </a:prstGeom>
        </p:spPr>
      </p:pic>
      <p:sp>
        <p:nvSpPr>
          <p:cNvPr id="2" name="Holder 2"/>
          <p:cNvSpPr>
            <a:spLocks noGrp="1"/>
          </p:cNvSpPr>
          <p:nvPr>
            <p:ph type="title"/>
          </p:nvPr>
        </p:nvSpPr>
        <p:spPr>
          <a:xfrm>
            <a:off x="141411" y="2058862"/>
            <a:ext cx="2515195" cy="504034"/>
          </a:xfrm>
          <a:prstGeom prst="rect">
            <a:avLst/>
          </a:prstGeom>
        </p:spPr>
        <p:txBody>
          <a:bodyPr wrap="square" lIns="0" tIns="0" rIns="0" bIns="0">
            <a:spAutoFit/>
          </a:bodyPr>
          <a:lstStyle>
            <a:lvl1pPr>
              <a:defRPr sz="1600" b="1" i="0">
                <a:solidFill>
                  <a:srgbClr val="171717"/>
                </a:solidFill>
                <a:latin typeface="Gill Sans MT"/>
                <a:cs typeface="Gill Sans MT"/>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11/7/2025</a:t>
            </a:fld>
            <a:endParaRPr lang="en-US"/>
          </a:p>
        </p:txBody>
      </p:sp>
      <p:sp>
        <p:nvSpPr>
          <p:cNvPr id="6" name="Holder 6"/>
          <p:cNvSpPr>
            <a:spLocks noGrp="1"/>
          </p:cNvSpPr>
          <p:nvPr>
            <p:ph type="sldNum" sz="quarter" idx="7"/>
          </p:nvPr>
        </p:nvSpPr>
        <p:spPr>
          <a:xfrm>
            <a:off x="11520251" y="6409362"/>
            <a:ext cx="151765" cy="145415"/>
          </a:xfrm>
          <a:prstGeom prst="rect">
            <a:avLst/>
          </a:prstGeom>
        </p:spPr>
        <p:txBody>
          <a:bodyPr wrap="square" lIns="0" tIns="0" rIns="0" bIns="0">
            <a:spAutoFit/>
          </a:bodyPr>
          <a:lstStyle>
            <a:lvl1pPr>
              <a:defRPr sz="800" b="0" i="0">
                <a:solidFill>
                  <a:srgbClr val="0B2240"/>
                </a:solidFill>
                <a:latin typeface="Gill Sans MT"/>
                <a:cs typeface="Gill Sans MT"/>
              </a:defRPr>
            </a:lvl1pPr>
          </a:lstStyle>
          <a:p>
            <a:pPr marL="38100">
              <a:lnSpc>
                <a:spcPct val="100000"/>
              </a:lnSpc>
              <a:spcBef>
                <a:spcPts val="45"/>
              </a:spcBef>
            </a:pPr>
            <a:fld id="{81D60167-4931-47E6-BA6A-407CBD079E47}" type="slidenum">
              <a:rPr spc="35" dirty="0"/>
              <a:t>‹#›</a:t>
            </a:fld>
            <a:endParaRPr spc="35" dirty="0"/>
          </a:p>
        </p:txBody>
      </p:sp>
    </p:spTree>
    <p:extLst>
      <p:ext uri="{BB962C8B-B14F-4D97-AF65-F5344CB8AC3E}">
        <p14:creationId xmlns:p14="http://schemas.microsoft.com/office/powerpoint/2010/main" val="394229446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54956" y="6391579"/>
            <a:ext cx="1129030" cy="248920"/>
          </a:xfrm>
          <a:prstGeom prst="rect">
            <a:avLst/>
          </a:prstGeom>
        </p:spPr>
        <p:txBody>
          <a:bodyPr vert="horz" wrap="square" lIns="0" tIns="14605" rIns="0" bIns="0" rtlCol="0">
            <a:spAutoFit/>
          </a:bodyPr>
          <a:lstStyle/>
          <a:p>
            <a:pPr marL="12700" marR="0" lvl="0" indent="0" defTabSz="914400" eaLnBrk="1" fontAlgn="auto" latinLnBrk="0" hangingPunct="1">
              <a:lnSpc>
                <a:spcPct val="100000"/>
              </a:lnSpc>
              <a:spcBef>
                <a:spcPts val="115"/>
              </a:spcBef>
              <a:spcAft>
                <a:spcPts val="0"/>
              </a:spcAft>
              <a:buClrTx/>
              <a:buSzTx/>
              <a:buFontTx/>
              <a:buNone/>
              <a:tabLst/>
              <a:defRPr/>
            </a:pPr>
            <a:r>
              <a:rPr kumimoji="0" sz="1450" b="0" i="0" u="none" strike="noStrike" kern="0" cap="none" spc="0" normalizeH="0" baseline="0" noProof="0" dirty="0">
                <a:ln>
                  <a:noFill/>
                </a:ln>
                <a:solidFill>
                  <a:srgbClr val="DA291C"/>
                </a:solidFill>
                <a:effectLst/>
                <a:uLnTx/>
                <a:uFillTx/>
                <a:latin typeface="Calibri"/>
                <a:cs typeface="Calibri"/>
              </a:rPr>
              <a:t>HERE</a:t>
            </a:r>
            <a:r>
              <a:rPr kumimoji="0" sz="1450" b="0" i="0" u="none" strike="noStrike" kern="0" cap="none" spc="-15" normalizeH="0" baseline="0" noProof="0" dirty="0">
                <a:ln>
                  <a:noFill/>
                </a:ln>
                <a:solidFill>
                  <a:srgbClr val="DA291C"/>
                </a:solidFill>
                <a:effectLst/>
                <a:uLnTx/>
                <a:uFillTx/>
                <a:latin typeface="Calibri"/>
                <a:cs typeface="Calibri"/>
              </a:rPr>
              <a:t> </a:t>
            </a:r>
            <a:r>
              <a:rPr kumimoji="0" sz="1450" b="0" i="0" u="none" strike="noStrike" kern="0" cap="none" spc="0" normalizeH="0" baseline="0" noProof="0" dirty="0">
                <a:ln>
                  <a:noFill/>
                </a:ln>
                <a:solidFill>
                  <a:srgbClr val="DA291C"/>
                </a:solidFill>
                <a:effectLst/>
                <a:uLnTx/>
                <a:uFillTx/>
                <a:latin typeface="Calibri"/>
                <a:cs typeface="Calibri"/>
              </a:rPr>
              <a:t>TO</a:t>
            </a:r>
            <a:r>
              <a:rPr kumimoji="0" sz="1450" b="0" i="0" u="none" strike="noStrike" kern="0" cap="none" spc="-10" normalizeH="0" baseline="0" noProof="0" dirty="0">
                <a:ln>
                  <a:noFill/>
                </a:ln>
                <a:solidFill>
                  <a:srgbClr val="DA291C"/>
                </a:solidFill>
                <a:effectLst/>
                <a:uLnTx/>
                <a:uFillTx/>
                <a:latin typeface="Calibri"/>
                <a:cs typeface="Calibri"/>
              </a:rPr>
              <a:t> </a:t>
            </a:r>
            <a:r>
              <a:rPr kumimoji="0" sz="1450" b="0" i="0" u="none" strike="noStrike" kern="0" cap="none" spc="-20" normalizeH="0" baseline="0" noProof="0" dirty="0">
                <a:ln>
                  <a:noFill/>
                </a:ln>
                <a:solidFill>
                  <a:srgbClr val="DA291C"/>
                </a:solidFill>
                <a:effectLst/>
                <a:uLnTx/>
                <a:uFillTx/>
                <a:latin typeface="Calibri"/>
                <a:cs typeface="Calibri"/>
              </a:rPr>
              <a:t>DARE</a:t>
            </a:r>
            <a:endParaRPr kumimoji="0" sz="1450" b="0" i="0" u="none" strike="noStrike" kern="0" cap="none" spc="0" normalizeH="0" baseline="0" noProof="0">
              <a:ln>
                <a:noFill/>
              </a:ln>
              <a:solidFill>
                <a:sysClr val="windowText" lastClr="000000"/>
              </a:solidFill>
              <a:effectLst/>
              <a:uLnTx/>
              <a:uFillTx/>
              <a:latin typeface="Calibri"/>
              <a:cs typeface="Calibri"/>
            </a:endParaRPr>
          </a:p>
        </p:txBody>
      </p:sp>
      <p:sp>
        <p:nvSpPr>
          <p:cNvPr id="3" name="object 3"/>
          <p:cNvSpPr txBox="1">
            <a:spLocks noGrp="1"/>
          </p:cNvSpPr>
          <p:nvPr>
            <p:ph type="ctrTitle"/>
          </p:nvPr>
        </p:nvSpPr>
        <p:spPr>
          <a:prstGeom prst="rect">
            <a:avLst/>
          </a:prstGeom>
        </p:spPr>
        <p:txBody>
          <a:bodyPr vert="horz" wrap="square" lIns="0" tIns="12700" rIns="0" bIns="0" rtlCol="0">
            <a:spAutoFit/>
          </a:bodyPr>
          <a:lstStyle/>
          <a:p>
            <a:pPr marL="12700">
              <a:lnSpc>
                <a:spcPct val="100000"/>
              </a:lnSpc>
              <a:spcBef>
                <a:spcPts val="100"/>
              </a:spcBef>
            </a:pPr>
            <a:r>
              <a:rPr sz="5400" b="0" spc="75" dirty="0">
                <a:solidFill>
                  <a:srgbClr val="FFFFFF"/>
                </a:solidFill>
                <a:latin typeface="Gill Sans MT"/>
                <a:cs typeface="Gill Sans MT"/>
              </a:rPr>
              <a:t>BIP</a:t>
            </a:r>
            <a:endParaRPr sz="5400" dirty="0">
              <a:latin typeface="Gill Sans MT"/>
              <a:cs typeface="Gill Sans MT"/>
            </a:endParaRPr>
          </a:p>
        </p:txBody>
      </p:sp>
      <p:sp>
        <p:nvSpPr>
          <p:cNvPr id="4" name="object 4"/>
          <p:cNvSpPr txBox="1"/>
          <p:nvPr/>
        </p:nvSpPr>
        <p:spPr>
          <a:xfrm>
            <a:off x="248050" y="5809700"/>
            <a:ext cx="798195" cy="208279"/>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1200" b="0" i="0" u="none" strike="noStrike" kern="0" cap="none" spc="190" normalizeH="0" baseline="0" noProof="0" dirty="0">
                <a:ln>
                  <a:noFill/>
                </a:ln>
                <a:solidFill>
                  <a:srgbClr val="FFFFFF"/>
                </a:solidFill>
                <a:effectLst/>
                <a:uLnTx/>
                <a:uFillTx/>
                <a:latin typeface="Gill Sans MT"/>
                <a:cs typeface="Gill Sans MT"/>
              </a:rPr>
              <a:t>June</a:t>
            </a:r>
            <a:r>
              <a:rPr kumimoji="0" sz="1200" b="0" i="0" u="none" strike="noStrike" kern="0" cap="none" spc="55" normalizeH="0" baseline="0" noProof="0" dirty="0">
                <a:ln>
                  <a:noFill/>
                </a:ln>
                <a:solidFill>
                  <a:srgbClr val="FFFFFF"/>
                </a:solidFill>
                <a:effectLst/>
                <a:uLnTx/>
                <a:uFillTx/>
                <a:latin typeface="Gill Sans MT"/>
                <a:cs typeface="Gill Sans MT"/>
              </a:rPr>
              <a:t> </a:t>
            </a:r>
            <a:r>
              <a:rPr kumimoji="0" sz="1200" b="0" i="0" u="none" strike="noStrike" kern="0" cap="none" spc="80" normalizeH="0" baseline="0" noProof="0" dirty="0">
                <a:ln>
                  <a:noFill/>
                </a:ln>
                <a:solidFill>
                  <a:srgbClr val="FFFFFF"/>
                </a:solidFill>
                <a:effectLst/>
                <a:uLnTx/>
                <a:uFillTx/>
                <a:latin typeface="Gill Sans MT"/>
                <a:cs typeface="Gill Sans MT"/>
              </a:rPr>
              <a:t>2025</a:t>
            </a:r>
            <a:endParaRPr kumimoji="0" sz="1200" b="0" i="0" u="none" strike="noStrike" kern="0" cap="none" spc="0" normalizeH="0" baseline="0" noProof="0">
              <a:ln>
                <a:noFill/>
              </a:ln>
              <a:solidFill>
                <a:sysClr val="windowText" lastClr="000000"/>
              </a:solidFill>
              <a:effectLst/>
              <a:uLnTx/>
              <a:uFillTx/>
              <a:latin typeface="Gill Sans MT"/>
              <a:cs typeface="Gill Sans MT"/>
            </a:endParaRPr>
          </a:p>
        </p:txBody>
      </p:sp>
      <p:sp>
        <p:nvSpPr>
          <p:cNvPr id="5" name="object 5"/>
          <p:cNvSpPr txBox="1"/>
          <p:nvPr/>
        </p:nvSpPr>
        <p:spPr>
          <a:xfrm>
            <a:off x="149176" y="3478321"/>
            <a:ext cx="4712608" cy="258404"/>
          </a:xfrm>
          <a:prstGeom prst="rect">
            <a:avLst/>
          </a:prstGeom>
        </p:spPr>
        <p:txBody>
          <a:bodyPr vert="horz" wrap="square" lIns="0" tIns="12065" rIns="0" bIns="0" rtlCol="0">
            <a:spAutoFit/>
          </a:bodyPr>
          <a:lstStyle/>
          <a:p>
            <a:pPr marL="12700" marR="0" lvl="0" indent="0" defTabSz="914400" eaLnBrk="1" fontAlgn="auto" latinLnBrk="0" hangingPunct="1">
              <a:lnSpc>
                <a:spcPct val="100000"/>
              </a:lnSpc>
              <a:spcBef>
                <a:spcPts val="95"/>
              </a:spcBef>
              <a:spcAft>
                <a:spcPts val="0"/>
              </a:spcAft>
              <a:buClrTx/>
              <a:buSzTx/>
              <a:buFontTx/>
              <a:buNone/>
              <a:tabLst/>
              <a:defRPr/>
            </a:pPr>
            <a:r>
              <a:rPr kumimoji="0" sz="1600" b="1" i="0" u="none" strike="noStrike" kern="0" cap="none" spc="45" normalizeH="0" baseline="0" noProof="0" dirty="0">
                <a:ln>
                  <a:noFill/>
                </a:ln>
                <a:solidFill>
                  <a:srgbClr val="FFFFFF"/>
                </a:solidFill>
                <a:effectLst/>
                <a:uLnTx/>
                <a:uFillTx/>
                <a:latin typeface="Gill Sans MT"/>
                <a:cs typeface="Gill Sans MT"/>
              </a:rPr>
              <a:t>Profiles</a:t>
            </a:r>
            <a:r>
              <a:rPr kumimoji="0" sz="1600" b="1" i="0" u="none" strike="noStrike" kern="0" cap="none" spc="175" normalizeH="0" baseline="0" noProof="0" dirty="0">
                <a:ln>
                  <a:noFill/>
                </a:ln>
                <a:solidFill>
                  <a:srgbClr val="FFFFFF"/>
                </a:solidFill>
                <a:effectLst/>
                <a:uLnTx/>
                <a:uFillTx/>
                <a:latin typeface="Gill Sans MT"/>
                <a:cs typeface="Gill Sans MT"/>
              </a:rPr>
              <a:t> </a:t>
            </a:r>
            <a:r>
              <a:rPr kumimoji="0" sz="1600" b="1" i="0" u="none" strike="noStrike" kern="0" cap="none" spc="0" normalizeH="0" baseline="0" noProof="0" dirty="0">
                <a:ln>
                  <a:noFill/>
                </a:ln>
                <a:solidFill>
                  <a:srgbClr val="FFFFFF"/>
                </a:solidFill>
                <a:effectLst/>
                <a:uLnTx/>
                <a:uFillTx/>
                <a:latin typeface="Gill Sans MT"/>
                <a:cs typeface="Gill Sans MT"/>
              </a:rPr>
              <a:t>for</a:t>
            </a:r>
            <a:r>
              <a:rPr kumimoji="0" sz="1600" b="1" i="0" u="none" strike="noStrike" kern="0" cap="none" spc="155" normalizeH="0" baseline="0" noProof="0" dirty="0">
                <a:ln>
                  <a:noFill/>
                </a:ln>
                <a:solidFill>
                  <a:srgbClr val="FFFFFF"/>
                </a:solidFill>
                <a:effectLst/>
                <a:uLnTx/>
                <a:uFillTx/>
                <a:latin typeface="Gill Sans MT"/>
                <a:cs typeface="Gill Sans MT"/>
              </a:rPr>
              <a:t> </a:t>
            </a:r>
            <a:r>
              <a:rPr kumimoji="0" sz="1600" b="1" i="0" u="none" strike="noStrike" kern="0" cap="none" spc="0" normalizeH="0" baseline="0" noProof="0" dirty="0">
                <a:ln>
                  <a:noFill/>
                </a:ln>
                <a:solidFill>
                  <a:srgbClr val="FFFFFF"/>
                </a:solidFill>
                <a:effectLst/>
                <a:uLnTx/>
                <a:uFillTx/>
                <a:latin typeface="Gill Sans MT"/>
                <a:cs typeface="Gill Sans MT"/>
              </a:rPr>
              <a:t>consideration</a:t>
            </a:r>
            <a:r>
              <a:rPr kumimoji="0" sz="1600" b="1" i="0" u="none" strike="noStrike" kern="0" cap="none" spc="175" normalizeH="0" baseline="0" noProof="0" dirty="0">
                <a:ln>
                  <a:noFill/>
                </a:ln>
                <a:solidFill>
                  <a:srgbClr val="FFFFFF"/>
                </a:solidFill>
                <a:effectLst/>
                <a:uLnTx/>
                <a:uFillTx/>
                <a:latin typeface="Gill Sans MT"/>
                <a:cs typeface="Gill Sans MT"/>
              </a:rPr>
              <a:t> </a:t>
            </a:r>
            <a:r>
              <a:rPr kumimoji="0" sz="1600" b="1" i="0" u="none" strike="noStrike" kern="0" cap="none" spc="280" normalizeH="0" baseline="0" noProof="0" dirty="0">
                <a:ln>
                  <a:noFill/>
                </a:ln>
                <a:solidFill>
                  <a:srgbClr val="FFFFFF"/>
                </a:solidFill>
                <a:effectLst/>
                <a:uLnTx/>
                <a:uFillTx/>
                <a:latin typeface="Gill Sans MT"/>
                <a:cs typeface="Gill Sans MT"/>
              </a:rPr>
              <a:t>–</a:t>
            </a:r>
            <a:r>
              <a:rPr kumimoji="0" sz="1600" b="1" i="0" u="none" strike="noStrike" kern="0" cap="none" spc="150" normalizeH="0" baseline="0" noProof="0" dirty="0">
                <a:ln>
                  <a:noFill/>
                </a:ln>
                <a:solidFill>
                  <a:srgbClr val="FFFFFF"/>
                </a:solidFill>
                <a:effectLst/>
                <a:uLnTx/>
                <a:uFillTx/>
                <a:latin typeface="Gill Sans MT"/>
                <a:cs typeface="Gill Sans MT"/>
              </a:rPr>
              <a:t> </a:t>
            </a:r>
            <a:r>
              <a:rPr kumimoji="0" sz="1600" b="1" i="0" u="none" strike="noStrike" kern="0" cap="none" spc="170" normalizeH="0" baseline="0" noProof="0" dirty="0">
                <a:ln>
                  <a:noFill/>
                </a:ln>
                <a:solidFill>
                  <a:srgbClr val="FFFFFF"/>
                </a:solidFill>
                <a:effectLst/>
                <a:uLnTx/>
                <a:uFillTx/>
                <a:latin typeface="Gill Sans MT"/>
                <a:cs typeface="Gill Sans MT"/>
              </a:rPr>
              <a:t> </a:t>
            </a:r>
            <a:r>
              <a:rPr lang="en-GB" sz="1600" b="1" kern="0" spc="-20" dirty="0">
                <a:solidFill>
                  <a:srgbClr val="FFFFFF"/>
                </a:solidFill>
                <a:latin typeface="Gill Sans MT"/>
                <a:cs typeface="Gill Sans MT"/>
              </a:rPr>
              <a:t>Developer</a:t>
            </a:r>
            <a:endParaRPr kumimoji="0" sz="1600" b="0" i="0" u="none" strike="noStrike" kern="0" cap="none" spc="0" normalizeH="0" baseline="0" noProof="0" dirty="0">
              <a:ln>
                <a:noFill/>
              </a:ln>
              <a:solidFill>
                <a:sysClr val="windowText" lastClr="000000"/>
              </a:solidFill>
              <a:effectLst/>
              <a:uLnTx/>
              <a:uFillTx/>
              <a:latin typeface="Gill Sans MT"/>
              <a:cs typeface="Gill Sans M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98B6A5-DDE9-CCD6-CAEF-4072A279C01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77A4A4F-F797-B365-7F91-291D9480EF0E}"/>
              </a:ext>
            </a:extLst>
          </p:cNvPr>
          <p:cNvSpPr txBox="1"/>
          <p:nvPr/>
        </p:nvSpPr>
        <p:spPr>
          <a:xfrm>
            <a:off x="223813" y="3537483"/>
            <a:ext cx="1616075" cy="193675"/>
          </a:xfrm>
          <a:prstGeom prst="rect">
            <a:avLst/>
          </a:prstGeom>
        </p:spPr>
        <p:txBody>
          <a:bodyPr vert="horz" wrap="square" lIns="0" tIns="13335" rIns="0" bIns="0" rtlCol="0">
            <a:spAutoFit/>
          </a:bodyPr>
          <a:lstStyle/>
          <a:p>
            <a:pPr marL="12700" marR="0" lvl="0" indent="0" defTabSz="914400" eaLnBrk="1" fontAlgn="auto" latinLnBrk="0" hangingPunct="1">
              <a:lnSpc>
                <a:spcPct val="100000"/>
              </a:lnSpc>
              <a:spcBef>
                <a:spcPts val="105"/>
              </a:spcBef>
              <a:spcAft>
                <a:spcPts val="0"/>
              </a:spcAft>
              <a:buClrTx/>
              <a:buSzTx/>
              <a:buFontTx/>
              <a:buNone/>
              <a:tabLst/>
              <a:defRPr/>
            </a:pPr>
            <a:r>
              <a:rPr kumimoji="0" sz="1100" b="1" i="0" u="none" strike="noStrike" kern="0" cap="none" spc="0" normalizeH="0" baseline="0" noProof="0" dirty="0">
                <a:ln>
                  <a:noFill/>
                </a:ln>
                <a:solidFill>
                  <a:srgbClr val="171717"/>
                </a:solidFill>
                <a:effectLst/>
                <a:uLnTx/>
                <a:uFillTx/>
                <a:latin typeface="Gill Sans MT"/>
                <a:cs typeface="Gill Sans MT"/>
              </a:rPr>
              <a:t>Key</a:t>
            </a:r>
            <a:r>
              <a:rPr kumimoji="0" sz="1100" b="1" i="0" u="none" strike="noStrike" kern="0" cap="none" spc="90" normalizeH="0" baseline="0" noProof="0" dirty="0">
                <a:ln>
                  <a:noFill/>
                </a:ln>
                <a:solidFill>
                  <a:srgbClr val="171717"/>
                </a:solidFill>
                <a:effectLst/>
                <a:uLnTx/>
                <a:uFillTx/>
                <a:latin typeface="Gill Sans MT"/>
                <a:cs typeface="Gill Sans MT"/>
              </a:rPr>
              <a:t> </a:t>
            </a:r>
            <a:r>
              <a:rPr kumimoji="0" sz="1100" b="1" i="0" u="none" strike="noStrike" kern="0" cap="none" spc="0" normalizeH="0" baseline="0" noProof="0" dirty="0">
                <a:ln>
                  <a:noFill/>
                </a:ln>
                <a:solidFill>
                  <a:srgbClr val="171717"/>
                </a:solidFill>
                <a:effectLst/>
                <a:uLnTx/>
                <a:uFillTx/>
                <a:latin typeface="Gill Sans MT"/>
                <a:cs typeface="Gill Sans MT"/>
              </a:rPr>
              <a:t>areas</a:t>
            </a:r>
            <a:r>
              <a:rPr kumimoji="0" sz="1100" b="1" i="0" u="none" strike="noStrike" kern="0" cap="none" spc="95" normalizeH="0" baseline="0" noProof="0" dirty="0">
                <a:ln>
                  <a:noFill/>
                </a:ln>
                <a:solidFill>
                  <a:srgbClr val="171717"/>
                </a:solidFill>
                <a:effectLst/>
                <a:uLnTx/>
                <a:uFillTx/>
                <a:latin typeface="Gill Sans MT"/>
                <a:cs typeface="Gill Sans MT"/>
              </a:rPr>
              <a:t> </a:t>
            </a:r>
            <a:r>
              <a:rPr kumimoji="0" sz="1100" b="1" i="0" u="none" strike="noStrike" kern="0" cap="none" spc="55" normalizeH="0" baseline="0" noProof="0" dirty="0">
                <a:ln>
                  <a:noFill/>
                </a:ln>
                <a:solidFill>
                  <a:srgbClr val="171717"/>
                </a:solidFill>
                <a:effectLst/>
                <a:uLnTx/>
                <a:uFillTx/>
                <a:latin typeface="Gill Sans MT"/>
                <a:cs typeface="Gill Sans MT"/>
              </a:rPr>
              <a:t>of</a:t>
            </a:r>
            <a:r>
              <a:rPr kumimoji="0" sz="1100" b="1" i="0" u="none" strike="noStrike" kern="0" cap="none" spc="105" normalizeH="0" baseline="0" noProof="0" dirty="0">
                <a:ln>
                  <a:noFill/>
                </a:ln>
                <a:solidFill>
                  <a:srgbClr val="171717"/>
                </a:solidFill>
                <a:effectLst/>
                <a:uLnTx/>
                <a:uFillTx/>
                <a:latin typeface="Gill Sans MT"/>
                <a:cs typeface="Gill Sans MT"/>
              </a:rPr>
              <a:t> </a:t>
            </a:r>
            <a:r>
              <a:rPr kumimoji="0" sz="1100" b="1" i="0" u="none" strike="noStrike" kern="0" cap="none" spc="-10" normalizeH="0" baseline="0" noProof="0" dirty="0">
                <a:ln>
                  <a:noFill/>
                </a:ln>
                <a:solidFill>
                  <a:srgbClr val="171717"/>
                </a:solidFill>
                <a:effectLst/>
                <a:uLnTx/>
                <a:uFillTx/>
                <a:latin typeface="Gill Sans MT"/>
                <a:cs typeface="Gill Sans MT"/>
              </a:rPr>
              <a:t>expertise:</a:t>
            </a:r>
            <a:endParaRPr kumimoji="0" sz="1100" b="0" i="0" u="none" strike="noStrike" kern="0" cap="none" spc="0" normalizeH="0" baseline="0" noProof="0">
              <a:ln>
                <a:noFill/>
              </a:ln>
              <a:solidFill>
                <a:sysClr val="windowText" lastClr="000000"/>
              </a:solidFill>
              <a:effectLst/>
              <a:uLnTx/>
              <a:uFillTx/>
              <a:latin typeface="Gill Sans MT"/>
              <a:cs typeface="Gill Sans MT"/>
            </a:endParaRPr>
          </a:p>
        </p:txBody>
      </p:sp>
      <p:sp>
        <p:nvSpPr>
          <p:cNvPr id="3" name="object 3">
            <a:extLst>
              <a:ext uri="{FF2B5EF4-FFF2-40B4-BE49-F238E27FC236}">
                <a16:creationId xmlns:a16="http://schemas.microsoft.com/office/drawing/2014/main" id="{C398989C-7070-D7C1-545C-B10E8AB12769}"/>
              </a:ext>
            </a:extLst>
          </p:cNvPr>
          <p:cNvSpPr txBox="1"/>
          <p:nvPr/>
        </p:nvSpPr>
        <p:spPr>
          <a:xfrm>
            <a:off x="223813" y="3841203"/>
            <a:ext cx="4348187" cy="2232662"/>
          </a:xfrm>
          <a:prstGeom prst="rect">
            <a:avLst/>
          </a:prstGeom>
        </p:spPr>
        <p:txBody>
          <a:bodyPr vert="horz" wrap="square" lIns="0" tIns="31750" rIns="0" bIns="0" rtlCol="0">
            <a:spAutoFit/>
          </a:bodyPr>
          <a:lstStyle/>
          <a:p>
            <a:pPr marL="171450" indent="-171450">
              <a:buFont typeface="Arial" panose="020B0604020202020204" pitchFamily="34" charset="0"/>
              <a:buChar char="•"/>
            </a:pPr>
            <a:r>
              <a:rPr lang="en-GB" sz="1100" dirty="0">
                <a:latin typeface="Gill Sans MT" panose="020B0502020104020203" pitchFamily="34" charset="77"/>
              </a:rPr>
              <a:t>Software engineering, system design, and solution architecture</a:t>
            </a:r>
          </a:p>
          <a:p>
            <a:pPr marL="171450" indent="-171450">
              <a:buFont typeface="Arial" panose="020B0604020202020204" pitchFamily="34" charset="0"/>
              <a:buChar char="•"/>
            </a:pPr>
            <a:r>
              <a:rPr lang="en-GB" sz="1100" dirty="0">
                <a:latin typeface="Gill Sans MT" panose="020B0502020104020203" pitchFamily="34" charset="77"/>
              </a:rPr>
              <a:t>Backend development using Java, C#, and Python (pandas, NumPy, </a:t>
            </a:r>
            <a:r>
              <a:rPr lang="en-GB" sz="1100" dirty="0" err="1">
                <a:latin typeface="Gill Sans MT" panose="020B0502020104020203" pitchFamily="34" charset="77"/>
              </a:rPr>
              <a:t>Pydantic</a:t>
            </a:r>
            <a:r>
              <a:rPr lang="en-GB" sz="1100" dirty="0">
                <a:latin typeface="Gill Sans MT" panose="020B0502020104020203" pitchFamily="34" charset="77"/>
              </a:rPr>
              <a:t>, </a:t>
            </a:r>
            <a:r>
              <a:rPr lang="en-GB" sz="1100" dirty="0" err="1">
                <a:latin typeface="Gill Sans MT" panose="020B0502020104020203" pitchFamily="34" charset="77"/>
              </a:rPr>
              <a:t>FastApi</a:t>
            </a:r>
            <a:r>
              <a:rPr lang="en-GB" sz="1100" dirty="0">
                <a:latin typeface="Gill Sans MT" panose="020B0502020104020203" pitchFamily="34" charset="77"/>
              </a:rPr>
              <a:t>)</a:t>
            </a:r>
          </a:p>
          <a:p>
            <a:pPr marL="171450" indent="-171450">
              <a:buFont typeface="Arial" panose="020B0604020202020204" pitchFamily="34" charset="0"/>
              <a:buChar char="•"/>
            </a:pPr>
            <a:r>
              <a:rPr lang="en-GB" sz="1100" dirty="0">
                <a:latin typeface="Gill Sans MT" panose="020B0502020104020203" pitchFamily="34" charset="77"/>
              </a:rPr>
              <a:t>Microservices and cloud platforms (Azure, AWS, Kubernetes, Docker)</a:t>
            </a:r>
          </a:p>
          <a:p>
            <a:pPr marL="171450" indent="-171450">
              <a:buFont typeface="Arial" panose="020B0604020202020204" pitchFamily="34" charset="0"/>
              <a:buChar char="•"/>
            </a:pPr>
            <a:r>
              <a:rPr lang="en-GB" sz="1100" dirty="0">
                <a:latin typeface="Gill Sans MT" panose="020B0502020104020203" pitchFamily="34" charset="77"/>
              </a:rPr>
              <a:t>Messaging and data systems (Kafka, Spark, Redis, Elasticsearch, NoSQL)</a:t>
            </a:r>
          </a:p>
          <a:p>
            <a:pPr marL="171450" indent="-171450">
              <a:buFont typeface="Arial" panose="020B0604020202020204" pitchFamily="34" charset="0"/>
              <a:buChar char="•"/>
            </a:pPr>
            <a:r>
              <a:rPr lang="en-GB" sz="1100" dirty="0">
                <a:latin typeface="Gill Sans MT" panose="020B0502020104020203" pitchFamily="34" charset="77"/>
              </a:rPr>
              <a:t>Test-Driven Development (TDD), refactoring, and code quality improvement</a:t>
            </a:r>
          </a:p>
          <a:p>
            <a:pPr marL="171450" indent="-171450">
              <a:buFont typeface="Arial" panose="020B0604020202020204" pitchFamily="34" charset="0"/>
              <a:buChar char="•"/>
            </a:pPr>
            <a:r>
              <a:rPr lang="en-GB" sz="1100" dirty="0">
                <a:latin typeface="Gill Sans MT" panose="020B0502020104020203" pitchFamily="34" charset="77"/>
              </a:rPr>
              <a:t>Continuous Integration / Continuous Delivery (Jenkins, Azure DevOps, Bitbucket)</a:t>
            </a:r>
          </a:p>
          <a:p>
            <a:pPr marL="171450" indent="-171450">
              <a:buFont typeface="Arial" panose="020B0604020202020204" pitchFamily="34" charset="0"/>
              <a:buChar char="•"/>
            </a:pPr>
            <a:r>
              <a:rPr lang="en-GB" sz="1100" dirty="0">
                <a:latin typeface="Gill Sans MT" panose="020B0502020104020203" pitchFamily="34" charset="77"/>
              </a:rPr>
              <a:t>Performance optimisation, data modelling, and automation</a:t>
            </a:r>
          </a:p>
          <a:p>
            <a:pPr marL="171450" indent="-171450">
              <a:buFont typeface="Arial" panose="020B0604020202020204" pitchFamily="34" charset="0"/>
              <a:buChar char="•"/>
            </a:pPr>
            <a:r>
              <a:rPr lang="en-GB" sz="1100" dirty="0">
                <a:latin typeface="Gill Sans MT" panose="020B0502020104020203" pitchFamily="34" charset="77"/>
              </a:rPr>
              <a:t>Agile development practices, stakeholder collaboration, and business analysis</a:t>
            </a:r>
          </a:p>
          <a:p>
            <a:pPr marL="171450" indent="-171450">
              <a:buFont typeface="Arial" panose="020B0604020202020204" pitchFamily="34" charset="0"/>
              <a:buChar char="•"/>
            </a:pPr>
            <a:r>
              <a:rPr lang="en-GB" sz="1100" dirty="0">
                <a:latin typeface="Gill Sans MT" panose="020B0502020104020203" pitchFamily="34" charset="77"/>
              </a:rPr>
              <a:t>Tools: Jira, Confluence, </a:t>
            </a:r>
            <a:r>
              <a:rPr lang="en-GB" sz="1100" dirty="0" err="1">
                <a:latin typeface="Gill Sans MT" panose="020B0502020104020203" pitchFamily="34" charset="77"/>
              </a:rPr>
              <a:t>Lucidchart</a:t>
            </a:r>
            <a:r>
              <a:rPr lang="en-GB" sz="1100" dirty="0">
                <a:latin typeface="Gill Sans MT" panose="020B0502020104020203" pitchFamily="34" charset="77"/>
              </a:rPr>
              <a:t>, Draw.io, Visio</a:t>
            </a:r>
            <a:endParaRPr sz="1100" dirty="0">
              <a:latin typeface="Gill Sans MT" panose="020B0502020104020203" pitchFamily="34" charset="77"/>
            </a:endParaRPr>
          </a:p>
        </p:txBody>
      </p:sp>
      <p:sp>
        <p:nvSpPr>
          <p:cNvPr id="6" name="object 6">
            <a:extLst>
              <a:ext uri="{FF2B5EF4-FFF2-40B4-BE49-F238E27FC236}">
                <a16:creationId xmlns:a16="http://schemas.microsoft.com/office/drawing/2014/main" id="{D79DAC2A-38F2-EEBB-F8A8-E685BCA6AEC1}"/>
              </a:ext>
            </a:extLst>
          </p:cNvPr>
          <p:cNvSpPr txBox="1"/>
          <p:nvPr/>
        </p:nvSpPr>
        <p:spPr>
          <a:xfrm>
            <a:off x="6829711" y="3818338"/>
            <a:ext cx="4786630" cy="800860"/>
          </a:xfrm>
          <a:prstGeom prst="rect">
            <a:avLst/>
          </a:prstGeom>
        </p:spPr>
        <p:txBody>
          <a:bodyPr vert="horz" wrap="square" lIns="0" tIns="31115" rIns="0" bIns="0" rtlCol="0">
            <a:spAutoFit/>
          </a:bodyPr>
          <a:lstStyle/>
          <a:p>
            <a:pPr marL="12700" marR="391795" lvl="0" algn="just">
              <a:lnSpc>
                <a:spcPts val="1150"/>
              </a:lnSpc>
              <a:spcBef>
                <a:spcPts val="245"/>
              </a:spcBef>
              <a:defRPr/>
            </a:pPr>
            <a:r>
              <a:rPr lang="en-GB" sz="1100" dirty="0">
                <a:latin typeface="Gill Sans MT" panose="020B0502020104020203" pitchFamily="34" charset="77"/>
              </a:rPr>
              <a:t>Developed and enhanced core modules for a cash management and reconciliation platform. Created technical specifications, refactored legacy components, and automated reconciliation processes. Implemented CI/CD pipelines and test frameworks to improve deployment speed and software reliability. Used python scripts for data evaluation from </a:t>
            </a:r>
            <a:r>
              <a:rPr lang="en-GB" sz="1100" dirty="0" err="1">
                <a:latin typeface="Gill Sans MT" panose="020B0502020104020203" pitchFamily="34" charset="77"/>
              </a:rPr>
              <a:t>db</a:t>
            </a:r>
            <a:r>
              <a:rPr lang="en-GB" sz="1100" dirty="0">
                <a:latin typeface="Gill Sans MT" panose="020B0502020104020203" pitchFamily="34" charset="77"/>
              </a:rPr>
              <a:t> and data science.</a:t>
            </a:r>
          </a:p>
        </p:txBody>
      </p:sp>
      <p:sp>
        <p:nvSpPr>
          <p:cNvPr id="9" name="object 9">
            <a:extLst>
              <a:ext uri="{FF2B5EF4-FFF2-40B4-BE49-F238E27FC236}">
                <a16:creationId xmlns:a16="http://schemas.microsoft.com/office/drawing/2014/main" id="{9277BEE4-EB08-3ED1-C1A1-DD09CFD09211}"/>
              </a:ext>
            </a:extLst>
          </p:cNvPr>
          <p:cNvSpPr txBox="1"/>
          <p:nvPr/>
        </p:nvSpPr>
        <p:spPr>
          <a:xfrm>
            <a:off x="5254388" y="2550949"/>
            <a:ext cx="1351054" cy="234488"/>
          </a:xfrm>
          <a:prstGeom prst="rect">
            <a:avLst/>
          </a:prstGeom>
        </p:spPr>
        <p:txBody>
          <a:bodyPr vert="horz" wrap="square" lIns="0" tIns="12065" rIns="0" bIns="0" rtlCol="0">
            <a:spAutoFit/>
          </a:bodyPr>
          <a:lstStyle/>
          <a:p>
            <a:pPr marL="283845" marR="5080" lvl="0" indent="-271780" defTabSz="914400" eaLnBrk="1" fontAlgn="auto" latinLnBrk="0" hangingPunct="1">
              <a:lnSpc>
                <a:spcPct val="157200"/>
              </a:lnSpc>
              <a:spcBef>
                <a:spcPts val="95"/>
              </a:spcBef>
              <a:spcAft>
                <a:spcPts val="0"/>
              </a:spcAft>
              <a:buClrTx/>
              <a:buSzTx/>
              <a:buFontTx/>
              <a:buNone/>
              <a:tabLst/>
              <a:defRPr/>
            </a:pPr>
            <a:r>
              <a:rPr lang="en-GB" sz="1050" kern="0" spc="50" dirty="0">
                <a:solidFill>
                  <a:srgbClr val="171717"/>
                </a:solidFill>
                <a:latin typeface="Gill Sans MT"/>
                <a:cs typeface="Gill Sans MT"/>
              </a:rPr>
              <a:t>Global FX Exchange</a:t>
            </a:r>
            <a:r>
              <a:rPr kumimoji="0" sz="1050" b="0" i="0" u="none" strike="noStrike" kern="0" cap="none" spc="35" normalizeH="0" baseline="0" noProof="0" dirty="0">
                <a:ln>
                  <a:noFill/>
                </a:ln>
                <a:solidFill>
                  <a:srgbClr val="171717"/>
                </a:solidFill>
                <a:effectLst/>
                <a:uLnTx/>
                <a:uFillTx/>
                <a:latin typeface="Gill Sans MT"/>
                <a:cs typeface="Gill Sans MT"/>
              </a:rPr>
              <a:t> </a:t>
            </a:r>
            <a:endParaRPr lang="en-GB" sz="1050" kern="0" spc="80" dirty="0">
              <a:solidFill>
                <a:srgbClr val="171717"/>
              </a:solidFill>
              <a:latin typeface="Gill Sans MT"/>
              <a:cs typeface="Gill Sans MT"/>
            </a:endParaRPr>
          </a:p>
        </p:txBody>
      </p:sp>
      <p:sp>
        <p:nvSpPr>
          <p:cNvPr id="10" name="object 10">
            <a:extLst>
              <a:ext uri="{FF2B5EF4-FFF2-40B4-BE49-F238E27FC236}">
                <a16:creationId xmlns:a16="http://schemas.microsoft.com/office/drawing/2014/main" id="{D1A2B968-F11F-CD3D-B343-1357E53D270A}"/>
              </a:ext>
            </a:extLst>
          </p:cNvPr>
          <p:cNvSpPr txBox="1"/>
          <p:nvPr/>
        </p:nvSpPr>
        <p:spPr>
          <a:xfrm>
            <a:off x="5084464" y="3726739"/>
            <a:ext cx="1356897" cy="427681"/>
          </a:xfrm>
          <a:prstGeom prst="rect">
            <a:avLst/>
          </a:prstGeom>
        </p:spPr>
        <p:txBody>
          <a:bodyPr vert="horz" wrap="square" lIns="0" tIns="103505" rIns="0" bIns="0" rtlCol="0">
            <a:spAutoFit/>
          </a:bodyPr>
          <a:lstStyle/>
          <a:p>
            <a:pPr marL="0" marR="5080" lvl="0" indent="0" algn="r" defTabSz="914400" eaLnBrk="1" fontAlgn="auto" latinLnBrk="0" hangingPunct="1">
              <a:lnSpc>
                <a:spcPct val="100000"/>
              </a:lnSpc>
              <a:spcBef>
                <a:spcPts val="815"/>
              </a:spcBef>
              <a:spcAft>
                <a:spcPts val="0"/>
              </a:spcAft>
              <a:buClrTx/>
              <a:buSzTx/>
              <a:buFontTx/>
              <a:buNone/>
              <a:tabLst/>
              <a:defRPr/>
            </a:pPr>
            <a:r>
              <a:rPr lang="en-GB" sz="1050" kern="0" spc="60" dirty="0">
                <a:solidFill>
                  <a:srgbClr val="171717"/>
                </a:solidFill>
                <a:latin typeface="Gill Sans MT"/>
                <a:cs typeface="Gill Sans MT"/>
              </a:rPr>
              <a:t>Global Systemically Important Bank</a:t>
            </a:r>
            <a:endParaRPr kumimoji="0" sz="1050" b="0" i="0" u="none" strike="noStrike" kern="0" cap="none" spc="0" normalizeH="0" baseline="0" noProof="0" dirty="0">
              <a:ln>
                <a:noFill/>
              </a:ln>
              <a:solidFill>
                <a:sysClr val="windowText" lastClr="000000"/>
              </a:solidFill>
              <a:effectLst/>
              <a:uLnTx/>
              <a:uFillTx/>
              <a:latin typeface="Gill Sans MT"/>
              <a:cs typeface="Gill Sans MT"/>
            </a:endParaRPr>
          </a:p>
        </p:txBody>
      </p:sp>
      <p:sp>
        <p:nvSpPr>
          <p:cNvPr id="11" name="object 11">
            <a:extLst>
              <a:ext uri="{FF2B5EF4-FFF2-40B4-BE49-F238E27FC236}">
                <a16:creationId xmlns:a16="http://schemas.microsoft.com/office/drawing/2014/main" id="{CE5B1727-D970-D69D-912D-17673D0A0059}"/>
              </a:ext>
            </a:extLst>
          </p:cNvPr>
          <p:cNvSpPr txBox="1"/>
          <p:nvPr/>
        </p:nvSpPr>
        <p:spPr>
          <a:xfrm>
            <a:off x="4825283" y="982895"/>
            <a:ext cx="1616075" cy="496931"/>
          </a:xfrm>
          <a:prstGeom prst="rect">
            <a:avLst/>
          </a:prstGeom>
        </p:spPr>
        <p:txBody>
          <a:bodyPr vert="horz" wrap="square" lIns="0" tIns="12065" rIns="0" bIns="0" rtlCol="0">
            <a:spAutoFit/>
          </a:bodyPr>
          <a:lstStyle/>
          <a:p>
            <a:pPr marR="5080" lvl="0" algn="r">
              <a:spcBef>
                <a:spcPts val="815"/>
              </a:spcBef>
              <a:defRPr/>
            </a:pPr>
            <a:r>
              <a:rPr lang="en-GB" sz="1050" kern="0" spc="60" dirty="0">
                <a:solidFill>
                  <a:srgbClr val="171717"/>
                </a:solidFill>
                <a:latin typeface="Gill Sans MT"/>
              </a:rPr>
              <a:t>Leading London Market Digital Placement Platform</a:t>
            </a:r>
          </a:p>
        </p:txBody>
      </p:sp>
      <p:sp>
        <p:nvSpPr>
          <p:cNvPr id="13" name="object 13">
            <a:extLst>
              <a:ext uri="{FF2B5EF4-FFF2-40B4-BE49-F238E27FC236}">
                <a16:creationId xmlns:a16="http://schemas.microsoft.com/office/drawing/2014/main" id="{243B1A3F-5A4B-8D8F-994E-E47B9FCCDC30}"/>
              </a:ext>
            </a:extLst>
          </p:cNvPr>
          <p:cNvSpPr txBox="1"/>
          <p:nvPr/>
        </p:nvSpPr>
        <p:spPr>
          <a:xfrm>
            <a:off x="223813" y="1748108"/>
            <a:ext cx="4348187" cy="1533112"/>
          </a:xfrm>
          <a:prstGeom prst="rect">
            <a:avLst/>
          </a:prstGeom>
        </p:spPr>
        <p:txBody>
          <a:bodyPr vert="horz" wrap="square" lIns="0" tIns="12065" rIns="0" bIns="0" rtlCol="0" anchor="t">
            <a:spAutoFit/>
          </a:bodyPr>
          <a:lstStyle/>
          <a:p>
            <a:pPr marL="12700">
              <a:spcBef>
                <a:spcPts val="95"/>
              </a:spcBef>
              <a:defRPr/>
            </a:pPr>
            <a:r>
              <a:rPr lang="en-GB" sz="1600" b="1" kern="0" dirty="0">
                <a:solidFill>
                  <a:srgbClr val="0B2240"/>
                </a:solidFill>
                <a:latin typeface="Gill Sans MT"/>
              </a:rPr>
              <a:t>Andrew Pincherle.</a:t>
            </a:r>
            <a:endParaRPr lang="en-US" dirty="0"/>
          </a:p>
          <a:p>
            <a:pPr marL="12700" marR="0" lvl="0" indent="0" defTabSz="914400">
              <a:lnSpc>
                <a:spcPct val="100000"/>
              </a:lnSpc>
              <a:spcBef>
                <a:spcPts val="95"/>
              </a:spcBef>
              <a:spcAft>
                <a:spcPts val="0"/>
              </a:spcAft>
              <a:buClrTx/>
              <a:buSzTx/>
              <a:buFontTx/>
              <a:buNone/>
              <a:tabLst/>
              <a:defRPr/>
            </a:pPr>
            <a:r>
              <a:rPr lang="en-GB" sz="1600" b="1" kern="0" dirty="0">
                <a:solidFill>
                  <a:srgbClr val="0B2240"/>
                </a:solidFill>
                <a:latin typeface="Gill Sans MT"/>
                <a:cs typeface="Gill Sans MT"/>
              </a:rPr>
              <a:t>Senior Developer</a:t>
            </a:r>
            <a:endParaRPr lang="en-GB" dirty="0"/>
          </a:p>
          <a:p>
            <a:pPr fontAlgn="base"/>
            <a:r>
              <a:rPr lang="en-GB" sz="1100" dirty="0">
                <a:solidFill>
                  <a:srgbClr val="4C565C"/>
                </a:solidFill>
                <a:cs typeface="Calibri"/>
              </a:rPr>
              <a:t>Experienced software engineer with 24 years in financial services, specialising in designing, building, and optimising complex systems. Skilled in coding, solution architecture, and data-driven design, with a strong focus on code quality, performance, and maintainability. Proven expertise delivering secure, scalable platforms through clean, testable code and modern development practices across trading, payments, and financial data systems.</a:t>
            </a:r>
          </a:p>
        </p:txBody>
      </p:sp>
      <p:pic>
        <p:nvPicPr>
          <p:cNvPr id="14" name="object 14">
            <a:extLst>
              <a:ext uri="{FF2B5EF4-FFF2-40B4-BE49-F238E27FC236}">
                <a16:creationId xmlns:a16="http://schemas.microsoft.com/office/drawing/2014/main" id="{B509EE6E-05DA-9BF3-08E6-C60E6DE4C71F}"/>
              </a:ext>
            </a:extLst>
          </p:cNvPr>
          <p:cNvPicPr/>
          <p:nvPr/>
        </p:nvPicPr>
        <p:blipFill>
          <a:blip r:embed="rId2" cstate="print"/>
          <a:stretch>
            <a:fillRect/>
          </a:stretch>
        </p:blipFill>
        <p:spPr>
          <a:xfrm>
            <a:off x="104168" y="116416"/>
            <a:ext cx="1839447" cy="1298433"/>
          </a:xfrm>
          <a:prstGeom prst="rect">
            <a:avLst/>
          </a:prstGeom>
        </p:spPr>
      </p:pic>
      <p:sp>
        <p:nvSpPr>
          <p:cNvPr id="15" name="object 15">
            <a:extLst>
              <a:ext uri="{FF2B5EF4-FFF2-40B4-BE49-F238E27FC236}">
                <a16:creationId xmlns:a16="http://schemas.microsoft.com/office/drawing/2014/main" id="{2BEF64FA-0B49-3625-041E-D9DC28C5AD99}"/>
              </a:ext>
            </a:extLst>
          </p:cNvPr>
          <p:cNvSpPr txBox="1">
            <a:spLocks noGrp="1"/>
          </p:cNvSpPr>
          <p:nvPr>
            <p:ph type="sldNum" sz="quarter" idx="7"/>
          </p:nvPr>
        </p:nvSpPr>
        <p:spPr>
          <a:prstGeom prst="rect">
            <a:avLst/>
          </a:prstGeom>
        </p:spPr>
        <p:txBody>
          <a:bodyPr vert="horz" wrap="square" lIns="0" tIns="5715" rIns="0" bIns="0" rtlCol="0">
            <a:spAutoFit/>
          </a:bodyPr>
          <a:lstStyle/>
          <a:p>
            <a:pPr marL="38100" marR="0" lvl="0" indent="0" defTabSz="914400" eaLnBrk="1" fontAlgn="auto" latinLnBrk="0" hangingPunct="1">
              <a:lnSpc>
                <a:spcPct val="100000"/>
              </a:lnSpc>
              <a:spcBef>
                <a:spcPts val="45"/>
              </a:spcBef>
              <a:spcAft>
                <a:spcPts val="0"/>
              </a:spcAft>
              <a:buClrTx/>
              <a:buSzTx/>
              <a:buFontTx/>
              <a:buNone/>
              <a:tabLst/>
              <a:defRPr/>
            </a:pPr>
            <a:fld id="{81D60167-4931-47E6-BA6A-407CBD079E47}" type="slidenum">
              <a:rPr kumimoji="0" sz="800" b="0" i="0" u="none" strike="noStrike" kern="0" cap="none" spc="35" normalizeH="0" baseline="0" noProof="0" dirty="0">
                <a:ln>
                  <a:noFill/>
                </a:ln>
                <a:solidFill>
                  <a:srgbClr val="0B2240"/>
                </a:solidFill>
                <a:effectLst/>
                <a:uLnTx/>
                <a:uFillTx/>
                <a:latin typeface="Gill Sans MT"/>
              </a:rPr>
              <a:pPr marL="38100" marR="0" lvl="0" indent="0" defTabSz="914400" eaLnBrk="1" fontAlgn="auto" latinLnBrk="0" hangingPunct="1">
                <a:lnSpc>
                  <a:spcPct val="100000"/>
                </a:lnSpc>
                <a:spcBef>
                  <a:spcPts val="45"/>
                </a:spcBef>
                <a:spcAft>
                  <a:spcPts val="0"/>
                </a:spcAft>
                <a:buClrTx/>
                <a:buSzTx/>
                <a:buFontTx/>
                <a:buNone/>
                <a:tabLst/>
                <a:defRPr/>
              </a:pPr>
              <a:t>2</a:t>
            </a:fld>
            <a:endParaRPr kumimoji="0" sz="800" b="0" i="0" u="none" strike="noStrike" kern="0" cap="none" spc="35" normalizeH="0" baseline="0" noProof="0" dirty="0">
              <a:ln>
                <a:noFill/>
              </a:ln>
              <a:solidFill>
                <a:srgbClr val="0B2240"/>
              </a:solidFill>
              <a:effectLst/>
              <a:uLnTx/>
              <a:uFillTx/>
              <a:latin typeface="Gill Sans MT"/>
            </a:endParaRPr>
          </a:p>
        </p:txBody>
      </p:sp>
      <p:graphicFrame>
        <p:nvGraphicFramePr>
          <p:cNvPr id="16" name="Table 15">
            <a:extLst>
              <a:ext uri="{FF2B5EF4-FFF2-40B4-BE49-F238E27FC236}">
                <a16:creationId xmlns:a16="http://schemas.microsoft.com/office/drawing/2014/main" id="{46E9E71A-9AA1-2255-E27C-5868F79D0C3B}"/>
              </a:ext>
            </a:extLst>
          </p:cNvPr>
          <p:cNvGraphicFramePr>
            <a:graphicFrameLocks noGrp="1"/>
          </p:cNvGraphicFramePr>
          <p:nvPr>
            <p:extLst>
              <p:ext uri="{D42A27DB-BD31-4B8C-83A1-F6EECF244321}">
                <p14:modId xmlns:p14="http://schemas.microsoft.com/office/powerpoint/2010/main" val="3005290173"/>
              </p:ext>
            </p:extLst>
          </p:nvPr>
        </p:nvGraphicFramePr>
        <p:xfrm>
          <a:off x="6744621" y="933892"/>
          <a:ext cx="4871720" cy="1783080"/>
        </p:xfrm>
        <a:graphic>
          <a:graphicData uri="http://schemas.openxmlformats.org/drawingml/2006/table">
            <a:tbl>
              <a:tblPr/>
              <a:tblGrid>
                <a:gridCol w="4871720">
                  <a:extLst>
                    <a:ext uri="{9D8B030D-6E8A-4147-A177-3AD203B41FA5}">
                      <a16:colId xmlns:a16="http://schemas.microsoft.com/office/drawing/2014/main" val="683597651"/>
                    </a:ext>
                  </a:extLst>
                </a:gridCol>
              </a:tblGrid>
              <a:tr h="1125879">
                <a:tc>
                  <a:txBody>
                    <a:bodyPr/>
                    <a:lstStyle/>
                    <a:p>
                      <a:pPr algn="l" rtl="0" fontAlgn="base">
                        <a:lnSpc>
                          <a:spcPct val="100000"/>
                        </a:lnSpc>
                        <a:buNone/>
                      </a:pPr>
                      <a:r>
                        <a:rPr lang="en-GB" sz="1100" kern="1200" dirty="0">
                          <a:solidFill>
                            <a:schemeClr val="tx1"/>
                          </a:solidFill>
                          <a:latin typeface="Gill Sans MT" panose="020B0502020104020203" pitchFamily="34" charset="77"/>
                          <a:ea typeface="+mn-ea"/>
                          <a:cs typeface="+mn-cs"/>
                        </a:rPr>
                        <a:t>Designed and developed a new cloud-native placement platform for the London Market insurance sector using a modern microservices and micro-UI architecture. Built and integrated Azure services including containers, static web apps, Bicep templates, and automated DevOps pipelines for scalable deployment. Implemented a Model Context Protocol (MCP) service to integrate with Microsoft Teams chatbot to streamline user AI interaction. Modernised the platform through best-practice software design patterns creating maintainable, future-ready solutions.</a:t>
                      </a:r>
                      <a:endParaRPr lang="en-GB" sz="1100" b="0" i="0" dirty="0">
                        <a:solidFill>
                          <a:srgbClr val="000000"/>
                        </a:solidFill>
                        <a:effectLst/>
                        <a:latin typeface="Gill Sans MT" panose="020B0502020104020203" pitchFamily="34" charset="77"/>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236552908"/>
                  </a:ext>
                </a:extLst>
              </a:tr>
              <a:tr h="203616">
                <a:tc>
                  <a:txBody>
                    <a:bodyPr/>
                    <a:lstStyle/>
                    <a:p>
                      <a:pPr algn="l" rtl="0" fontAlgn="base">
                        <a:lnSpc>
                          <a:spcPct val="100000"/>
                        </a:lnSpc>
                        <a:buNone/>
                      </a:pPr>
                      <a:endParaRPr lang="en-GB" sz="1100" b="0" i="0" dirty="0">
                        <a:solidFill>
                          <a:srgbClr val="000000"/>
                        </a:solidFill>
                        <a:effectLst/>
                        <a:latin typeface="Gill Sans MT" panose="020B0502020104020203" pitchFamily="34" charset="77"/>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2410963027"/>
                  </a:ext>
                </a:extLst>
              </a:tr>
              <a:tr h="203616">
                <a:tc>
                  <a:txBody>
                    <a:bodyPr/>
                    <a:lstStyle/>
                    <a:p>
                      <a:pPr algn="l" rtl="0" fontAlgn="base">
                        <a:lnSpc>
                          <a:spcPct val="100000"/>
                        </a:lnSpc>
                        <a:buNone/>
                      </a:pPr>
                      <a:endParaRPr lang="en-GB" sz="1100" b="0" i="0" dirty="0">
                        <a:solidFill>
                          <a:srgbClr val="000000"/>
                        </a:solidFill>
                        <a:effectLst/>
                        <a:latin typeface="Gill Sans MT" panose="020B0502020104020203" pitchFamily="34" charset="77"/>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3713944625"/>
                  </a:ext>
                </a:extLst>
              </a:tr>
            </a:tbl>
          </a:graphicData>
        </a:graphic>
      </p:graphicFrame>
      <p:sp>
        <p:nvSpPr>
          <p:cNvPr id="4" name="object 11">
            <a:extLst>
              <a:ext uri="{FF2B5EF4-FFF2-40B4-BE49-F238E27FC236}">
                <a16:creationId xmlns:a16="http://schemas.microsoft.com/office/drawing/2014/main" id="{E2DF93FC-1F37-C008-5A90-587037EB52FF}"/>
              </a:ext>
            </a:extLst>
          </p:cNvPr>
          <p:cNvSpPr txBox="1"/>
          <p:nvPr/>
        </p:nvSpPr>
        <p:spPr>
          <a:xfrm>
            <a:off x="4825283" y="4966921"/>
            <a:ext cx="1616075" cy="335348"/>
          </a:xfrm>
          <a:prstGeom prst="rect">
            <a:avLst/>
          </a:prstGeom>
        </p:spPr>
        <p:txBody>
          <a:bodyPr vert="horz" wrap="square" lIns="0" tIns="12065" rIns="0" bIns="0" rtlCol="0">
            <a:spAutoFit/>
          </a:bodyPr>
          <a:lstStyle/>
          <a:p>
            <a:pPr marR="5080" lvl="0" algn="r">
              <a:spcBef>
                <a:spcPts val="815"/>
              </a:spcBef>
              <a:defRPr/>
            </a:pPr>
            <a:r>
              <a:rPr lang="en-GB" sz="1050" kern="0" spc="60" dirty="0">
                <a:solidFill>
                  <a:srgbClr val="171717"/>
                </a:solidFill>
                <a:latin typeface="Gill Sans MT"/>
                <a:cs typeface="Gill Sans MT"/>
              </a:rPr>
              <a:t>Global Systemically Important Bank</a:t>
            </a:r>
            <a:endParaRPr lang="en-GB" sz="1050" kern="0" dirty="0">
              <a:solidFill>
                <a:sysClr val="windowText" lastClr="000000"/>
              </a:solidFill>
              <a:latin typeface="Gill Sans MT"/>
              <a:cs typeface="Gill Sans MT"/>
            </a:endParaRPr>
          </a:p>
        </p:txBody>
      </p:sp>
      <p:graphicFrame>
        <p:nvGraphicFramePr>
          <p:cNvPr id="7" name="Table 6">
            <a:extLst>
              <a:ext uri="{FF2B5EF4-FFF2-40B4-BE49-F238E27FC236}">
                <a16:creationId xmlns:a16="http://schemas.microsoft.com/office/drawing/2014/main" id="{259E012B-41D1-B9EA-A13F-095A7E2B5D02}"/>
              </a:ext>
            </a:extLst>
          </p:cNvPr>
          <p:cNvGraphicFramePr>
            <a:graphicFrameLocks noGrp="1"/>
          </p:cNvGraphicFramePr>
          <p:nvPr>
            <p:extLst>
              <p:ext uri="{D42A27DB-BD31-4B8C-83A1-F6EECF244321}">
                <p14:modId xmlns:p14="http://schemas.microsoft.com/office/powerpoint/2010/main" val="3262137726"/>
              </p:ext>
            </p:extLst>
          </p:nvPr>
        </p:nvGraphicFramePr>
        <p:xfrm>
          <a:off x="6724413" y="4946799"/>
          <a:ext cx="4871720" cy="1280160"/>
        </p:xfrm>
        <a:graphic>
          <a:graphicData uri="http://schemas.openxmlformats.org/drawingml/2006/table">
            <a:tbl>
              <a:tblPr/>
              <a:tblGrid>
                <a:gridCol w="4871720">
                  <a:extLst>
                    <a:ext uri="{9D8B030D-6E8A-4147-A177-3AD203B41FA5}">
                      <a16:colId xmlns:a16="http://schemas.microsoft.com/office/drawing/2014/main" val="683597651"/>
                    </a:ext>
                  </a:extLst>
                </a:gridCol>
              </a:tblGrid>
              <a:tr h="336736">
                <a:tc>
                  <a:txBody>
                    <a:bodyPr/>
                    <a:lstStyle/>
                    <a:p>
                      <a:pPr algn="l" rtl="0" fontAlgn="base">
                        <a:lnSpc>
                          <a:spcPct val="100000"/>
                        </a:lnSpc>
                        <a:buNone/>
                      </a:pPr>
                      <a:r>
                        <a:rPr lang="en-GB" sz="1100" kern="1200" dirty="0">
                          <a:solidFill>
                            <a:schemeClr val="tx1"/>
                          </a:solidFill>
                          <a:latin typeface="Gill Sans MT" panose="020B0502020104020203" pitchFamily="34" charset="77"/>
                          <a:ea typeface="+mn-ea"/>
                          <a:cs typeface="+mn-cs"/>
                        </a:rPr>
                        <a:t>Developed microservices and front-end components in java for a platform generating financial indices from market data. Built Python scripts for data processing, analysis, and automation. Optimised system performance and data flows, delivering reliable, production-grade solutions.</a:t>
                      </a: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236552908"/>
                  </a:ext>
                </a:extLst>
              </a:tr>
              <a:tr h="146782">
                <a:tc>
                  <a:txBody>
                    <a:bodyPr/>
                    <a:lstStyle/>
                    <a:p>
                      <a:pPr algn="l" rtl="0" fontAlgn="base">
                        <a:lnSpc>
                          <a:spcPct val="100000"/>
                        </a:lnSpc>
                        <a:buNone/>
                      </a:pPr>
                      <a:endParaRPr lang="en-GB" sz="1100" b="0" i="0" dirty="0">
                        <a:solidFill>
                          <a:srgbClr val="000000"/>
                        </a:solidFill>
                        <a:effectLst/>
                        <a:latin typeface="Gill Sans MT" panose="020B0502020104020203" pitchFamily="34" charset="77"/>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2410963027"/>
                  </a:ext>
                </a:extLst>
              </a:tr>
              <a:tr h="146782">
                <a:tc>
                  <a:txBody>
                    <a:bodyPr/>
                    <a:lstStyle/>
                    <a:p>
                      <a:pPr algn="l" rtl="0" fontAlgn="base">
                        <a:lnSpc>
                          <a:spcPct val="100000"/>
                        </a:lnSpc>
                        <a:buNone/>
                      </a:pPr>
                      <a:endParaRPr lang="en-GB" sz="1100" b="0" i="0" dirty="0">
                        <a:solidFill>
                          <a:srgbClr val="000000"/>
                        </a:solidFill>
                        <a:effectLst/>
                        <a:latin typeface="Gill Sans MT" panose="020B0502020104020203" pitchFamily="34" charset="77"/>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3713944625"/>
                  </a:ext>
                </a:extLst>
              </a:tr>
            </a:tbl>
          </a:graphicData>
        </a:graphic>
      </p:graphicFrame>
      <p:sp>
        <p:nvSpPr>
          <p:cNvPr id="5" name="object 5">
            <a:extLst>
              <a:ext uri="{FF2B5EF4-FFF2-40B4-BE49-F238E27FC236}">
                <a16:creationId xmlns:a16="http://schemas.microsoft.com/office/drawing/2014/main" id="{E6FAE917-1065-9A7D-CE1F-B87CBB8EED21}"/>
              </a:ext>
            </a:extLst>
          </p:cNvPr>
          <p:cNvSpPr txBox="1"/>
          <p:nvPr/>
        </p:nvSpPr>
        <p:spPr>
          <a:xfrm>
            <a:off x="6800295" y="2620042"/>
            <a:ext cx="4871721" cy="938076"/>
          </a:xfrm>
          <a:prstGeom prst="rect">
            <a:avLst/>
          </a:prstGeom>
        </p:spPr>
        <p:txBody>
          <a:bodyPr vert="horz" wrap="square" lIns="0" tIns="14604" rIns="0" bIns="0" rtlCol="0">
            <a:spAutoFit/>
          </a:bodyPr>
          <a:lstStyle/>
          <a:p>
            <a:pPr marL="38100" lvl="0">
              <a:lnSpc>
                <a:spcPts val="1205"/>
              </a:lnSpc>
              <a:spcBef>
                <a:spcPts val="114"/>
              </a:spcBef>
              <a:defRPr/>
            </a:pPr>
            <a:r>
              <a:rPr lang="en-GB" sz="1100" dirty="0">
                <a:latin typeface="Gill Sans MT" panose="020B0502020104020203" pitchFamily="34" charset="77"/>
              </a:rPr>
              <a:t>Designed and built microservices for real-time FX order execution and RFQ workflows requiring ultra-low latency and high responsiveness. Implemented Kafka-based event streaming to enable reliable, real-time data exchange and system decoupling. Applied test-driven development, CI/CD pipelines, and Agile practices to deliver robust, high-quality trading components with rapid iteration and continuous improvement.</a:t>
            </a:r>
          </a:p>
        </p:txBody>
      </p:sp>
    </p:spTree>
    <p:extLst>
      <p:ext uri="{BB962C8B-B14F-4D97-AF65-F5344CB8AC3E}">
        <p14:creationId xmlns:p14="http://schemas.microsoft.com/office/powerpoint/2010/main" val="36969853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2A71B2-DD1E-CE5F-4EFA-52FC18F0FEED}"/>
            </a:ext>
          </a:extLst>
        </p:cNvPr>
        <p:cNvGrpSpPr/>
        <p:nvPr/>
      </p:nvGrpSpPr>
      <p:grpSpPr>
        <a:xfrm>
          <a:off x="0" y="0"/>
          <a:ext cx="0" cy="0"/>
          <a:chOff x="0" y="0"/>
          <a:chExt cx="0" cy="0"/>
        </a:xfrm>
      </p:grpSpPr>
      <p:pic>
        <p:nvPicPr>
          <p:cNvPr id="14" name="object 14">
            <a:extLst>
              <a:ext uri="{FF2B5EF4-FFF2-40B4-BE49-F238E27FC236}">
                <a16:creationId xmlns:a16="http://schemas.microsoft.com/office/drawing/2014/main" id="{C31A1BB1-4850-AF10-C4C9-6917C5C90B3D}"/>
              </a:ext>
            </a:extLst>
          </p:cNvPr>
          <p:cNvPicPr/>
          <p:nvPr/>
        </p:nvPicPr>
        <p:blipFill>
          <a:blip r:embed="rId2" cstate="print"/>
          <a:stretch>
            <a:fillRect/>
          </a:stretch>
        </p:blipFill>
        <p:spPr>
          <a:xfrm>
            <a:off x="104168" y="116416"/>
            <a:ext cx="1839447" cy="1298433"/>
          </a:xfrm>
          <a:prstGeom prst="rect">
            <a:avLst/>
          </a:prstGeom>
        </p:spPr>
      </p:pic>
      <p:sp>
        <p:nvSpPr>
          <p:cNvPr id="15" name="object 15">
            <a:extLst>
              <a:ext uri="{FF2B5EF4-FFF2-40B4-BE49-F238E27FC236}">
                <a16:creationId xmlns:a16="http://schemas.microsoft.com/office/drawing/2014/main" id="{74B0D1FA-6592-DD94-5A8A-150FAF95924D}"/>
              </a:ext>
            </a:extLst>
          </p:cNvPr>
          <p:cNvSpPr txBox="1">
            <a:spLocks noGrp="1"/>
          </p:cNvSpPr>
          <p:nvPr>
            <p:ph type="sldNum" sz="quarter" idx="7"/>
          </p:nvPr>
        </p:nvSpPr>
        <p:spPr>
          <a:xfrm>
            <a:off x="11520251" y="6409362"/>
            <a:ext cx="151765" cy="145415"/>
          </a:xfrm>
          <a:prstGeom prst="rect">
            <a:avLst/>
          </a:prstGeom>
        </p:spPr>
        <p:txBody>
          <a:bodyPr vert="horz" wrap="square" lIns="0" tIns="0" rIns="0" bIns="0" rtlCol="0">
            <a:spAutoFit/>
          </a:bodyPr>
          <a:lstStyle>
            <a:defPPr>
              <a:defRPr lang="en-US"/>
            </a:defPPr>
            <a:lvl1pPr marL="0" algn="l" defTabSz="914400" rtl="0" eaLnBrk="1" latinLnBrk="0" hangingPunct="1">
              <a:defRPr sz="800" b="0" i="0" kern="1200">
                <a:solidFill>
                  <a:srgbClr val="0B2240"/>
                </a:solidFill>
                <a:latin typeface="Gill Sans MT"/>
                <a:ea typeface="+mn-ea"/>
                <a:cs typeface="Gill Sans M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marR="0" lvl="0" indent="0" defTabSz="914400" eaLnBrk="1" fontAlgn="auto" latinLnBrk="0" hangingPunct="1">
              <a:lnSpc>
                <a:spcPct val="100000"/>
              </a:lnSpc>
              <a:spcBef>
                <a:spcPts val="45"/>
              </a:spcBef>
              <a:spcAft>
                <a:spcPts val="0"/>
              </a:spcAft>
              <a:buClrTx/>
              <a:buSzTx/>
              <a:buFontTx/>
              <a:buNone/>
              <a:tabLst/>
              <a:defRPr/>
            </a:pPr>
            <a:fld id="{81D60167-4931-47E6-BA6A-407CBD079E47}" type="slidenum">
              <a:rPr lang="en-GB" spc="35" smtClean="0"/>
              <a:pPr marL="38100" marR="0" lvl="0" indent="0" defTabSz="914400" eaLnBrk="1" fontAlgn="auto" latinLnBrk="0" hangingPunct="1">
                <a:lnSpc>
                  <a:spcPct val="100000"/>
                </a:lnSpc>
                <a:spcBef>
                  <a:spcPts val="45"/>
                </a:spcBef>
                <a:spcAft>
                  <a:spcPts val="0"/>
                </a:spcAft>
                <a:buClrTx/>
                <a:buSzTx/>
                <a:buFontTx/>
                <a:buNone/>
                <a:tabLst/>
                <a:defRPr/>
              </a:pPr>
              <a:t>3</a:t>
            </a:fld>
            <a:endParaRPr kumimoji="0" sz="800" b="0" i="0" u="none" strike="noStrike" kern="0" cap="none" spc="35" normalizeH="0" baseline="0" noProof="0">
              <a:ln>
                <a:noFill/>
              </a:ln>
              <a:solidFill>
                <a:srgbClr val="0B2240"/>
              </a:solidFill>
              <a:effectLst/>
              <a:uLnTx/>
              <a:uFillTx/>
              <a:latin typeface="Gill Sans MT"/>
            </a:endParaRPr>
          </a:p>
        </p:txBody>
      </p:sp>
      <p:sp>
        <p:nvSpPr>
          <p:cNvPr id="8" name="object 13">
            <a:extLst>
              <a:ext uri="{FF2B5EF4-FFF2-40B4-BE49-F238E27FC236}">
                <a16:creationId xmlns:a16="http://schemas.microsoft.com/office/drawing/2014/main" id="{F16A8127-CE03-C651-A496-1F5C8D04FD36}"/>
              </a:ext>
            </a:extLst>
          </p:cNvPr>
          <p:cNvSpPr txBox="1"/>
          <p:nvPr/>
        </p:nvSpPr>
        <p:spPr>
          <a:xfrm>
            <a:off x="223200" y="1709338"/>
            <a:ext cx="3662387" cy="4823756"/>
          </a:xfrm>
          <a:prstGeom prst="rect">
            <a:avLst/>
          </a:prstGeom>
        </p:spPr>
        <p:txBody>
          <a:bodyPr vert="horz" wrap="square" lIns="0" tIns="12065" rIns="0" bIns="0" rtlCol="0" anchor="t">
            <a:spAutoFit/>
          </a:bodyPr>
          <a:lstStyle/>
          <a:p>
            <a:pPr marL="12700">
              <a:spcBef>
                <a:spcPts val="95"/>
              </a:spcBef>
              <a:spcAft>
                <a:spcPts val="600"/>
              </a:spcAft>
              <a:defRPr/>
            </a:pPr>
            <a:r>
              <a:rPr lang="en-GB" sz="1600" b="1" kern="0">
                <a:solidFill>
                  <a:srgbClr val="0B2240"/>
                </a:solidFill>
                <a:latin typeface="Gill Sans MT"/>
              </a:rPr>
              <a:t>Andrew Pincherle.</a:t>
            </a:r>
            <a:endParaRPr lang="en-US" sz="1600" b="1" kern="0">
              <a:solidFill>
                <a:srgbClr val="0B2240"/>
              </a:solidFill>
              <a:latin typeface="Gill Sans MT"/>
            </a:endParaRPr>
          </a:p>
          <a:p>
            <a:pPr marL="12700" marR="0" lvl="0" indent="0">
              <a:lnSpc>
                <a:spcPct val="100000"/>
              </a:lnSpc>
              <a:spcBef>
                <a:spcPts val="95"/>
              </a:spcBef>
              <a:spcAft>
                <a:spcPts val="600"/>
              </a:spcAft>
              <a:buClrTx/>
              <a:buSzTx/>
              <a:buFontTx/>
              <a:buNone/>
              <a:tabLst/>
              <a:defRPr/>
            </a:pPr>
            <a:r>
              <a:rPr lang="en-GB" sz="1600" b="1" kern="0">
                <a:solidFill>
                  <a:srgbClr val="0B2240"/>
                </a:solidFill>
                <a:latin typeface="Gill Sans MT"/>
              </a:rPr>
              <a:t>Senior Developer</a:t>
            </a:r>
          </a:p>
          <a:p>
            <a:pPr fontAlgn="base"/>
            <a:r>
              <a:rPr lang="en-GB" sz="1100">
                <a:solidFill>
                  <a:srgbClr val="4C565C"/>
                </a:solidFill>
                <a:cs typeface="Calibri"/>
              </a:rPr>
              <a:t>Experienced software engineer with 24 years in financial services, specialising in designing, building, and optimising complex systems. Skilled in coding, solution architecture, and data-driven design, with a strong focus on code quality, performance, and maintainability. Proven expertise delivering secure, scalable platforms through clean, testable code and modern development practices across trading, payments, and financial data systems.</a:t>
            </a:r>
          </a:p>
          <a:p>
            <a:pPr fontAlgn="base"/>
            <a:endParaRPr lang="en-GB" sz="1100" b="1">
              <a:solidFill>
                <a:srgbClr val="4C565C"/>
              </a:solidFill>
              <a:cs typeface="Calibri"/>
            </a:endParaRPr>
          </a:p>
          <a:p>
            <a:pPr marL="12700">
              <a:spcBef>
                <a:spcPts val="95"/>
              </a:spcBef>
              <a:spcAft>
                <a:spcPts val="600"/>
              </a:spcAft>
              <a:defRPr/>
            </a:pPr>
            <a:r>
              <a:rPr lang="en-GB" sz="1100" b="1" kern="0">
                <a:solidFill>
                  <a:srgbClr val="171717"/>
                </a:solidFill>
                <a:latin typeface="Gill Sans MT"/>
              </a:rPr>
              <a:t>Key areas of expertise:</a:t>
            </a:r>
          </a:p>
          <a:p>
            <a:pPr marL="171450" indent="-171450">
              <a:buFont typeface="Arial" panose="020B0604020202020204" pitchFamily="34" charset="0"/>
              <a:buChar char="•"/>
            </a:pPr>
            <a:r>
              <a:rPr lang="en-GB" sz="1100">
                <a:latin typeface="Gill Sans MT" panose="020B0502020104020203" pitchFamily="34" charset="77"/>
              </a:rPr>
              <a:t>Leadership &amp; methodologies: </a:t>
            </a:r>
            <a:r>
              <a:rPr lang="en-GB" sz="1100">
                <a:solidFill>
                  <a:srgbClr val="4C565C"/>
                </a:solidFill>
                <a:cs typeface="Arial"/>
              </a:rPr>
              <a:t>Solution architecture, system design, Agile development practices, Test-Driven Development (TDD), stakeholder collaboration, business analysis</a:t>
            </a:r>
          </a:p>
          <a:p>
            <a:pPr marL="171450" indent="-171450">
              <a:buFont typeface="Arial" panose="020B0604020202020204" pitchFamily="34" charset="0"/>
              <a:buChar char="•"/>
            </a:pPr>
            <a:endParaRPr lang="en-GB" sz="1100">
              <a:latin typeface="Gill Sans MT" panose="020B0502020104020203" pitchFamily="34" charset="77"/>
            </a:endParaRPr>
          </a:p>
          <a:p>
            <a:pPr marL="171450" indent="-171450">
              <a:buFont typeface="Arial" panose="020B0604020202020204" pitchFamily="34" charset="0"/>
              <a:buChar char="•"/>
            </a:pPr>
            <a:r>
              <a:rPr lang="en-GB" sz="1100">
                <a:latin typeface="Gill Sans MT" panose="020B0502020104020203" pitchFamily="34" charset="77"/>
              </a:rPr>
              <a:t>Languages &amp; frameworks: </a:t>
            </a:r>
            <a:r>
              <a:rPr lang="en-GB" sz="1100">
                <a:solidFill>
                  <a:srgbClr val="4C565C"/>
                </a:solidFill>
                <a:cs typeface="Arial"/>
              </a:rPr>
              <a:t>Java, C#, Python (pandas, NumPy, </a:t>
            </a:r>
            <a:r>
              <a:rPr lang="en-GB" sz="1100" err="1">
                <a:solidFill>
                  <a:srgbClr val="4C565C"/>
                </a:solidFill>
                <a:cs typeface="Arial"/>
              </a:rPr>
              <a:t>Pydantic</a:t>
            </a:r>
            <a:r>
              <a:rPr lang="en-GB" sz="1100">
                <a:solidFill>
                  <a:srgbClr val="4C565C"/>
                </a:solidFill>
                <a:cs typeface="Arial"/>
              </a:rPr>
              <a:t>, </a:t>
            </a:r>
            <a:r>
              <a:rPr lang="en-GB" sz="1100" err="1">
                <a:solidFill>
                  <a:srgbClr val="4C565C"/>
                </a:solidFill>
                <a:cs typeface="Arial"/>
              </a:rPr>
              <a:t>FastAPI</a:t>
            </a:r>
            <a:r>
              <a:rPr lang="en-GB" sz="1100">
                <a:solidFill>
                  <a:srgbClr val="4C565C"/>
                </a:solidFill>
                <a:cs typeface="Arial"/>
              </a:rPr>
              <a:t>)</a:t>
            </a:r>
          </a:p>
          <a:p>
            <a:pPr marL="171450" indent="-171450">
              <a:buFont typeface="Arial" panose="020B0604020202020204" pitchFamily="34" charset="0"/>
              <a:buChar char="•"/>
            </a:pPr>
            <a:endParaRPr lang="en-GB" sz="1100">
              <a:latin typeface="Gill Sans MT" panose="020B0502020104020203" pitchFamily="34" charset="77"/>
            </a:endParaRPr>
          </a:p>
          <a:p>
            <a:pPr marL="171450" indent="-171450">
              <a:buFont typeface="Arial" panose="020B0604020202020204" pitchFamily="34" charset="0"/>
              <a:buChar char="•"/>
            </a:pPr>
            <a:r>
              <a:rPr lang="en-GB" sz="1100">
                <a:latin typeface="Gill Sans MT" panose="020B0502020104020203" pitchFamily="34" charset="77"/>
              </a:rPr>
              <a:t>Data technologies &amp; platforms: </a:t>
            </a:r>
            <a:r>
              <a:rPr lang="en-GB" sz="1100">
                <a:solidFill>
                  <a:srgbClr val="4C565C"/>
                </a:solidFill>
                <a:cs typeface="Arial"/>
              </a:rPr>
              <a:t>Kafka, Spark, Redis, Elasticsearch, NoSQL</a:t>
            </a:r>
          </a:p>
          <a:p>
            <a:pPr marL="171450" indent="-171450">
              <a:buFont typeface="Arial" panose="020B0604020202020204" pitchFamily="34" charset="0"/>
              <a:buChar char="•"/>
            </a:pPr>
            <a:endParaRPr lang="en-GB" sz="1100">
              <a:latin typeface="Gill Sans MT" panose="020B0502020104020203" pitchFamily="34" charset="77"/>
            </a:endParaRPr>
          </a:p>
          <a:p>
            <a:pPr marL="171450" indent="-171450">
              <a:buFont typeface="Arial" panose="020B0604020202020204" pitchFamily="34" charset="0"/>
              <a:buChar char="•"/>
            </a:pPr>
            <a:r>
              <a:rPr lang="en-GB" sz="1100">
                <a:latin typeface="Gill Sans MT" panose="020B0502020104020203" pitchFamily="34" charset="77"/>
              </a:rPr>
              <a:t>DevOps, CI/CD &amp; tooling: </a:t>
            </a:r>
            <a:r>
              <a:rPr lang="en-GB" sz="1100">
                <a:solidFill>
                  <a:srgbClr val="4C565C"/>
                </a:solidFill>
                <a:cs typeface="Arial"/>
              </a:rPr>
              <a:t>Azure, AWS, Kubernetes, Docker, Jenkins, Azure DevOps, Bitbucket, Jira, Confluence</a:t>
            </a:r>
          </a:p>
        </p:txBody>
      </p:sp>
      <p:graphicFrame>
        <p:nvGraphicFramePr>
          <p:cNvPr id="12" name="Table 11">
            <a:extLst>
              <a:ext uri="{FF2B5EF4-FFF2-40B4-BE49-F238E27FC236}">
                <a16:creationId xmlns:a16="http://schemas.microsoft.com/office/drawing/2014/main" id="{73FD471B-BBB7-C5BB-0ED6-3CE7558D9CBB}"/>
              </a:ext>
            </a:extLst>
          </p:cNvPr>
          <p:cNvGraphicFramePr>
            <a:graphicFrameLocks noGrp="1"/>
          </p:cNvGraphicFramePr>
          <p:nvPr>
            <p:extLst>
              <p:ext uri="{D42A27DB-BD31-4B8C-83A1-F6EECF244321}">
                <p14:modId xmlns:p14="http://schemas.microsoft.com/office/powerpoint/2010/main" val="3693695929"/>
              </p:ext>
            </p:extLst>
          </p:nvPr>
        </p:nvGraphicFramePr>
        <p:xfrm>
          <a:off x="5068800" y="1710000"/>
          <a:ext cx="6603998" cy="4558367"/>
        </p:xfrm>
        <a:graphic>
          <a:graphicData uri="http://schemas.openxmlformats.org/drawingml/2006/table">
            <a:tbl>
              <a:tblPr bandRow="1">
                <a:tableStyleId>{5C22544A-7EE6-4342-B048-85BDC9FD1C3A}</a:tableStyleId>
              </a:tblPr>
              <a:tblGrid>
                <a:gridCol w="1483222">
                  <a:extLst>
                    <a:ext uri="{9D8B030D-6E8A-4147-A177-3AD203B41FA5}">
                      <a16:colId xmlns:a16="http://schemas.microsoft.com/office/drawing/2014/main" val="1742380137"/>
                    </a:ext>
                  </a:extLst>
                </a:gridCol>
                <a:gridCol w="5120776">
                  <a:extLst>
                    <a:ext uri="{9D8B030D-6E8A-4147-A177-3AD203B41FA5}">
                      <a16:colId xmlns:a16="http://schemas.microsoft.com/office/drawing/2014/main" val="2412837540"/>
                    </a:ext>
                  </a:extLst>
                </a:gridCol>
              </a:tblGrid>
              <a:tr h="133114">
                <a:tc>
                  <a:txBody>
                    <a:bodyPr/>
                    <a:lstStyle/>
                    <a:p>
                      <a:pPr marL="457200" lvl="1" indent="0" algn="l">
                        <a:spcAft>
                          <a:spcPts val="300"/>
                        </a:spcAft>
                        <a:buNone/>
                      </a:pPr>
                      <a:endParaRPr lang="en-GB" sz="1000" kern="1200" noProof="0">
                        <a:solidFill>
                          <a:srgbClr val="4C565C"/>
                        </a:solidFill>
                        <a:latin typeface="+mn-lt"/>
                        <a:ea typeface="+mn-ea"/>
                        <a:cs typeface="+mn-cs"/>
                      </a:endParaRPr>
                    </a:p>
                  </a:txBody>
                  <a:tcPr marL="0" marR="0" marT="0" marB="0">
                    <a:lnL w="0">
                      <a:noFill/>
                    </a:lnL>
                    <a:lnR w="0">
                      <a:noFill/>
                    </a:lnR>
                    <a:lnT w="0">
                      <a:noFill/>
                    </a:lnT>
                    <a:lnB w="0">
                      <a:noFill/>
                    </a:lnB>
                    <a:noFill/>
                  </a:tcPr>
                </a:tc>
                <a:tc>
                  <a:txBody>
                    <a:bodyPr/>
                    <a:lstStyle/>
                    <a:p>
                      <a:pPr marL="0" lvl="0" algn="l">
                        <a:buNone/>
                      </a:pPr>
                      <a:endParaRPr lang="en-GB" sz="900" kern="1200" noProof="0">
                        <a:solidFill>
                          <a:srgbClr val="4C565C"/>
                        </a:solidFill>
                        <a:latin typeface="+mn-lt"/>
                        <a:ea typeface="+mn-ea"/>
                        <a:cs typeface="+mn-cs"/>
                      </a:endParaRPr>
                    </a:p>
                  </a:txBody>
                  <a:tcPr marL="0" marR="0" marT="0" marB="0">
                    <a:lnL w="0">
                      <a:noFill/>
                    </a:lnL>
                    <a:lnR w="0">
                      <a:noFill/>
                    </a:lnR>
                    <a:lnT w="0">
                      <a:noFill/>
                    </a:lnT>
                    <a:lnB w="0">
                      <a:noFill/>
                    </a:lnB>
                    <a:noFill/>
                  </a:tcPr>
                </a:tc>
                <a:extLst>
                  <a:ext uri="{0D108BD9-81ED-4DB2-BD59-A6C34878D82A}">
                    <a16:rowId xmlns:a16="http://schemas.microsoft.com/office/drawing/2014/main" val="1882606432"/>
                  </a:ext>
                </a:extLst>
              </a:tr>
              <a:tr h="1032149">
                <a:tc>
                  <a:txBody>
                    <a:bodyPr/>
                    <a:lstStyle/>
                    <a:p>
                      <a:pPr marL="0" marR="5080" lvl="0" indent="0" algn="l" defTabSz="914400" rtl="0" eaLnBrk="1" fontAlgn="auto" latinLnBrk="0" hangingPunct="1">
                        <a:lnSpc>
                          <a:spcPct val="100000"/>
                        </a:lnSpc>
                        <a:spcBef>
                          <a:spcPts val="0"/>
                        </a:spcBef>
                        <a:spcAft>
                          <a:spcPts val="0"/>
                        </a:spcAft>
                        <a:buClrTx/>
                        <a:buSzTx/>
                        <a:buFontTx/>
                        <a:buNone/>
                        <a:tabLst/>
                        <a:defRPr/>
                      </a:pPr>
                      <a:r>
                        <a:rPr lang="en-GB" sz="1050" kern="0" spc="50" noProof="0">
                          <a:solidFill>
                            <a:srgbClr val="171717"/>
                          </a:solidFill>
                          <a:latin typeface="+mj-lt"/>
                          <a:ea typeface="+mn-ea"/>
                          <a:cs typeface="+mn-cs"/>
                        </a:rPr>
                        <a:t>Leading London Market Digital Placement Platform</a:t>
                      </a:r>
                    </a:p>
                  </a:txBody>
                  <a:tcPr marL="0" marR="0" marT="0" marB="0">
                    <a:lnL>
                      <a:noFill/>
                    </a:lnL>
                    <a:lnR>
                      <a:noFill/>
                    </a:lnR>
                    <a:lnT>
                      <a:noFill/>
                    </a:lnT>
                    <a:lnB>
                      <a:noFill/>
                    </a:lnB>
                    <a:noFill/>
                  </a:tcPr>
                </a:tc>
                <a:tc>
                  <a:txBody>
                    <a:bodyPr/>
                    <a:lstStyle/>
                    <a:p>
                      <a:pPr marL="0" marR="5080" lvl="0" indent="-271780" algn="l" rtl="0" eaLnBrk="1" fontAlgn="auto" latinLnBrk="0" hangingPunct="1">
                        <a:lnSpc>
                          <a:spcPct val="100000"/>
                        </a:lnSpc>
                        <a:spcBef>
                          <a:spcPts val="0"/>
                        </a:spcBef>
                        <a:spcAft>
                          <a:spcPts val="0"/>
                        </a:spcAft>
                        <a:buClrTx/>
                        <a:buSzTx/>
                        <a:buFontTx/>
                        <a:buNone/>
                      </a:pPr>
                      <a:r>
                        <a:rPr lang="en-GB" sz="1100" kern="1200" noProof="0">
                          <a:solidFill>
                            <a:srgbClr val="4C565C"/>
                          </a:solidFill>
                          <a:latin typeface="+mn-lt"/>
                          <a:ea typeface="+mn-ea"/>
                          <a:cs typeface="+mn-cs"/>
                        </a:rPr>
                        <a:t>Designed and developed a new cloud-native placement platform for the London Market insurance sector using a modern C# microservices and micro-UI architecture. Built and integrated Azure services including containers, static web apps, Bicep templates, and automated DevOps pipelines for scalable deployment. Implemented a Model Context Protocol (MCP) service to integrate with Microsoft Teams chatbot to streamline user AI interaction. Modernised the platform through best-practice software design patterns creating maintainable, future-ready solutions.</a:t>
                      </a:r>
                    </a:p>
                    <a:p>
                      <a:pPr marL="0" marR="5080" lvl="0" indent="-271780" algn="l" defTabSz="914400" rtl="0" eaLnBrk="1" fontAlgn="auto" latinLnBrk="0" hangingPunct="1">
                        <a:lnSpc>
                          <a:spcPct val="100000"/>
                        </a:lnSpc>
                        <a:spcBef>
                          <a:spcPts val="0"/>
                        </a:spcBef>
                        <a:spcAft>
                          <a:spcPts val="0"/>
                        </a:spcAft>
                        <a:buClrTx/>
                        <a:buSzTx/>
                        <a:buFontTx/>
                        <a:buNone/>
                        <a:tabLst/>
                        <a:defRPr/>
                      </a:pPr>
                      <a:endParaRPr lang="en-GB" sz="1100" kern="1200" noProof="0">
                        <a:solidFill>
                          <a:srgbClr val="4C565C"/>
                        </a:solidFill>
                        <a:latin typeface="+mn-lt"/>
                        <a:ea typeface="+mn-ea"/>
                        <a:cs typeface="+mn-cs"/>
                      </a:endParaRPr>
                    </a:p>
                  </a:txBody>
                  <a:tcPr marL="0" marR="0" marT="0" marB="0">
                    <a:lnL>
                      <a:noFill/>
                    </a:lnL>
                    <a:lnR>
                      <a:noFill/>
                    </a:lnR>
                    <a:lnT>
                      <a:noFill/>
                    </a:lnT>
                    <a:lnB>
                      <a:noFill/>
                    </a:lnB>
                    <a:noFill/>
                  </a:tcPr>
                </a:tc>
                <a:extLst>
                  <a:ext uri="{0D108BD9-81ED-4DB2-BD59-A6C34878D82A}">
                    <a16:rowId xmlns:a16="http://schemas.microsoft.com/office/drawing/2014/main" val="2067852543"/>
                  </a:ext>
                </a:extLst>
              </a:tr>
              <a:tr h="1019011">
                <a:tc>
                  <a:txBody>
                    <a:bodyPr/>
                    <a:lstStyle/>
                    <a:p>
                      <a:pPr marL="0" marR="5080" lvl="0" indent="0" algn="l" defTabSz="914400" rtl="0" eaLnBrk="1" fontAlgn="auto" latinLnBrk="0" hangingPunct="1">
                        <a:lnSpc>
                          <a:spcPct val="100000"/>
                        </a:lnSpc>
                        <a:spcBef>
                          <a:spcPts val="0"/>
                        </a:spcBef>
                        <a:spcAft>
                          <a:spcPts val="0"/>
                        </a:spcAft>
                        <a:buClrTx/>
                        <a:buSzTx/>
                        <a:buFontTx/>
                        <a:buNone/>
                        <a:tabLst/>
                        <a:defRPr/>
                      </a:pPr>
                      <a:r>
                        <a:rPr lang="en-GB" sz="1050" kern="0" spc="50" noProof="0">
                          <a:solidFill>
                            <a:srgbClr val="171717"/>
                          </a:solidFill>
                          <a:latin typeface="+mj-lt"/>
                          <a:ea typeface="+mn-ea"/>
                          <a:cs typeface="+mn-cs"/>
                        </a:rPr>
                        <a:t>Global FX Exchange</a:t>
                      </a:r>
                    </a:p>
                  </a:txBody>
                  <a:tcPr marL="0" marR="0" marT="0" marB="0">
                    <a:lnL>
                      <a:noFill/>
                    </a:lnL>
                    <a:lnR>
                      <a:noFill/>
                    </a:lnR>
                    <a:lnT>
                      <a:noFill/>
                    </a:lnT>
                    <a:lnB>
                      <a:noFill/>
                    </a:lnB>
                    <a:noFill/>
                  </a:tcPr>
                </a:tc>
                <a:tc>
                  <a:txBody>
                    <a:bodyPr/>
                    <a:lstStyle/>
                    <a:p>
                      <a:pPr marL="0" marR="5080" lvl="0" indent="-271780" algn="l" rtl="0" eaLnBrk="1" fontAlgn="auto" latinLnBrk="0" hangingPunct="1">
                        <a:lnSpc>
                          <a:spcPct val="100000"/>
                        </a:lnSpc>
                        <a:spcBef>
                          <a:spcPts val="0"/>
                        </a:spcBef>
                        <a:spcAft>
                          <a:spcPts val="0"/>
                        </a:spcAft>
                        <a:buClrTx/>
                        <a:buSzTx/>
                        <a:buFontTx/>
                        <a:buNone/>
                      </a:pPr>
                      <a:r>
                        <a:rPr lang="en-GB" sz="1100" kern="1200" noProof="0">
                          <a:solidFill>
                            <a:srgbClr val="4C565C"/>
                          </a:solidFill>
                          <a:latin typeface="+mn-lt"/>
                          <a:ea typeface="+mn-ea"/>
                          <a:cs typeface="+mn-cs"/>
                        </a:rPr>
                        <a:t>Designed and built Java microservices for real-time FX order execution and RFQ workflows requiring ultra-low latency and high responsiveness. Implemented Kafka-based event streaming to enable reliable, real-time data exchange and system decoupling. Applied test-driven development, CI/CD pipelines, and Agile practices to deliver robust, high-quality trading components with rapid iteration and continuous improvement.</a:t>
                      </a:r>
                    </a:p>
                    <a:p>
                      <a:pPr marL="0" marR="5080" lvl="0" indent="-271780" algn="l" defTabSz="914400" rtl="0" eaLnBrk="1" fontAlgn="auto" latinLnBrk="0" hangingPunct="1">
                        <a:lnSpc>
                          <a:spcPct val="100000"/>
                        </a:lnSpc>
                        <a:spcBef>
                          <a:spcPts val="0"/>
                        </a:spcBef>
                        <a:spcAft>
                          <a:spcPts val="0"/>
                        </a:spcAft>
                        <a:buClrTx/>
                        <a:buSzTx/>
                        <a:buFontTx/>
                        <a:buNone/>
                        <a:tabLst/>
                        <a:defRPr/>
                      </a:pPr>
                      <a:endParaRPr lang="en-GB" sz="1100" kern="1200" noProof="0">
                        <a:solidFill>
                          <a:srgbClr val="4C565C"/>
                        </a:solidFill>
                        <a:latin typeface="+mn-lt"/>
                        <a:ea typeface="+mn-ea"/>
                        <a:cs typeface="+mn-cs"/>
                      </a:endParaRPr>
                    </a:p>
                  </a:txBody>
                  <a:tcPr marL="0" marR="0" marT="0" marB="0">
                    <a:lnL>
                      <a:noFill/>
                    </a:lnL>
                    <a:lnR>
                      <a:noFill/>
                    </a:lnR>
                    <a:lnT>
                      <a:noFill/>
                    </a:lnT>
                    <a:lnB>
                      <a:noFill/>
                    </a:lnB>
                    <a:noFill/>
                  </a:tcPr>
                </a:tc>
                <a:extLst>
                  <a:ext uri="{0D108BD9-81ED-4DB2-BD59-A6C34878D82A}">
                    <a16:rowId xmlns:a16="http://schemas.microsoft.com/office/drawing/2014/main" val="2861070819"/>
                  </a:ext>
                </a:extLst>
              </a:tr>
              <a:tr h="1050017">
                <a:tc>
                  <a:txBody>
                    <a:bodyPr/>
                    <a:lstStyle/>
                    <a:p>
                      <a:pPr marL="0" marR="5080" lvl="0" indent="0" algn="l" defTabSz="914400" rtl="0" eaLnBrk="1" fontAlgn="auto" latinLnBrk="0" hangingPunct="1">
                        <a:lnSpc>
                          <a:spcPct val="100000"/>
                        </a:lnSpc>
                        <a:spcBef>
                          <a:spcPts val="0"/>
                        </a:spcBef>
                        <a:spcAft>
                          <a:spcPts val="0"/>
                        </a:spcAft>
                        <a:buClrTx/>
                        <a:buSzTx/>
                        <a:buFontTx/>
                        <a:buNone/>
                        <a:tabLst/>
                        <a:defRPr/>
                      </a:pPr>
                      <a:r>
                        <a:rPr lang="en-GB" sz="1050" kern="0" spc="50" noProof="0">
                          <a:solidFill>
                            <a:srgbClr val="171717"/>
                          </a:solidFill>
                          <a:latin typeface="+mj-lt"/>
                          <a:ea typeface="+mn-ea"/>
                          <a:cs typeface="+mn-cs"/>
                        </a:rPr>
                        <a:t>Global Systemically Important Bank</a:t>
                      </a:r>
                    </a:p>
                  </a:txBody>
                  <a:tcPr marL="0" marR="0" marT="0" marB="0">
                    <a:lnL>
                      <a:noFill/>
                    </a:lnL>
                    <a:lnR>
                      <a:noFill/>
                    </a:lnR>
                    <a:lnT>
                      <a:noFill/>
                    </a:lnT>
                    <a:lnB>
                      <a:noFill/>
                    </a:lnB>
                    <a:noFill/>
                  </a:tcPr>
                </a:tc>
                <a:tc>
                  <a:txBody>
                    <a:bodyPr/>
                    <a:lstStyle/>
                    <a:p>
                      <a:pPr marL="0" marR="5080" lvl="0" indent="-271780" algn="l" rtl="0" eaLnBrk="1" fontAlgn="auto" latinLnBrk="0" hangingPunct="1">
                        <a:lnSpc>
                          <a:spcPct val="100000"/>
                        </a:lnSpc>
                        <a:spcBef>
                          <a:spcPts val="0"/>
                        </a:spcBef>
                        <a:spcAft>
                          <a:spcPts val="0"/>
                        </a:spcAft>
                        <a:buClrTx/>
                        <a:buSzTx/>
                        <a:buFontTx/>
                        <a:buNone/>
                      </a:pPr>
                      <a:r>
                        <a:rPr lang="en-GB" sz="1100" kern="1200" noProof="0">
                          <a:solidFill>
                            <a:srgbClr val="4C565C"/>
                          </a:solidFill>
                          <a:latin typeface="+mn-lt"/>
                          <a:ea typeface="+mn-ea"/>
                          <a:cs typeface="+mn-cs"/>
                        </a:rPr>
                        <a:t>Developed and enhanced core modules for a Java cash management and reconciliation platform. Created technical specifications, refactored legacy components, and automated reconciliation processes. Implemented CI/CD pipelines and test frameworks to improve deployment speed and software reliability. Used python scripts for data evaluation and data science.</a:t>
                      </a:r>
                    </a:p>
                    <a:p>
                      <a:pPr marL="0" marR="5080" lvl="0" indent="-271780" algn="l" defTabSz="914400" rtl="0" eaLnBrk="1" fontAlgn="auto" latinLnBrk="0" hangingPunct="1">
                        <a:lnSpc>
                          <a:spcPct val="100000"/>
                        </a:lnSpc>
                        <a:spcBef>
                          <a:spcPts val="0"/>
                        </a:spcBef>
                        <a:spcAft>
                          <a:spcPts val="0"/>
                        </a:spcAft>
                        <a:buClrTx/>
                        <a:buSzTx/>
                        <a:buFontTx/>
                        <a:buNone/>
                        <a:tabLst/>
                        <a:defRPr/>
                      </a:pPr>
                      <a:endParaRPr lang="en-GB" sz="1100" kern="1200" noProof="0">
                        <a:solidFill>
                          <a:srgbClr val="4C565C"/>
                        </a:solidFill>
                        <a:latin typeface="+mn-lt"/>
                        <a:ea typeface="+mn-ea"/>
                        <a:cs typeface="+mn-cs"/>
                      </a:endParaRPr>
                    </a:p>
                  </a:txBody>
                  <a:tcPr marL="0" marR="0" marT="0" marB="0">
                    <a:lnL>
                      <a:noFill/>
                    </a:lnL>
                    <a:lnR>
                      <a:noFill/>
                    </a:lnR>
                    <a:lnT>
                      <a:noFill/>
                    </a:lnT>
                    <a:lnB>
                      <a:noFill/>
                    </a:lnB>
                    <a:noFill/>
                  </a:tcPr>
                </a:tc>
                <a:extLst>
                  <a:ext uri="{0D108BD9-81ED-4DB2-BD59-A6C34878D82A}">
                    <a16:rowId xmlns:a16="http://schemas.microsoft.com/office/drawing/2014/main" val="1428288774"/>
                  </a:ext>
                </a:extLst>
              </a:tr>
              <a:tr h="995819">
                <a:tc>
                  <a:txBody>
                    <a:bodyPr/>
                    <a:lstStyle/>
                    <a:p>
                      <a:pPr marL="0" marR="5080" lvl="0" indent="0" algn="l" defTabSz="914400" rtl="0" eaLnBrk="1" fontAlgn="auto" latinLnBrk="0" hangingPunct="1">
                        <a:lnSpc>
                          <a:spcPct val="100000"/>
                        </a:lnSpc>
                        <a:spcBef>
                          <a:spcPts val="0"/>
                        </a:spcBef>
                        <a:spcAft>
                          <a:spcPts val="0"/>
                        </a:spcAft>
                        <a:buClrTx/>
                        <a:buSzTx/>
                        <a:buFontTx/>
                        <a:buNone/>
                        <a:tabLst/>
                        <a:defRPr/>
                      </a:pPr>
                      <a:r>
                        <a:rPr lang="en-GB" sz="1050" kern="0" spc="50" noProof="0">
                          <a:solidFill>
                            <a:srgbClr val="171717"/>
                          </a:solidFill>
                          <a:latin typeface="+mj-lt"/>
                          <a:ea typeface="+mn-ea"/>
                          <a:cs typeface="+mn-cs"/>
                        </a:rPr>
                        <a:t>Global Systemically Important Bank</a:t>
                      </a:r>
                    </a:p>
                  </a:txBody>
                  <a:tcPr marL="0" marR="0" marT="0" marB="0">
                    <a:lnL w="0">
                      <a:noFill/>
                    </a:lnL>
                    <a:lnR w="0">
                      <a:noFill/>
                    </a:lnR>
                    <a:lnT w="0">
                      <a:noFill/>
                    </a:lnT>
                    <a:lnB w="0">
                      <a:noFill/>
                    </a:lnB>
                    <a:noFill/>
                  </a:tcPr>
                </a:tc>
                <a:tc>
                  <a:txBody>
                    <a:bodyPr/>
                    <a:lstStyle/>
                    <a:p>
                      <a:pPr marL="0" marR="5080" lvl="0" indent="-271780" algn="l" defTabSz="914400" rtl="0" eaLnBrk="1" fontAlgn="auto" latinLnBrk="0" hangingPunct="1">
                        <a:lnSpc>
                          <a:spcPct val="100000"/>
                        </a:lnSpc>
                        <a:spcBef>
                          <a:spcPts val="0"/>
                        </a:spcBef>
                        <a:spcAft>
                          <a:spcPts val="0"/>
                        </a:spcAft>
                        <a:buClrTx/>
                        <a:buSzTx/>
                        <a:buFontTx/>
                        <a:buNone/>
                        <a:tabLst/>
                        <a:defRPr/>
                      </a:pPr>
                      <a:r>
                        <a:rPr lang="en-GB" sz="1100" kern="1200" noProof="0" dirty="0">
                          <a:solidFill>
                            <a:srgbClr val="4C565C"/>
                          </a:solidFill>
                          <a:latin typeface="+mn-lt"/>
                          <a:ea typeface="+mn-ea"/>
                          <a:cs typeface="+mn-cs"/>
                        </a:rPr>
                        <a:t>Developed microservices and front-end components in Java for a platform generating financial indices from market data. Built Python scripts for data processing, analysis, and automation. Integrated multiple internal and external APIs into a unified service bus, enabling seamless data exchange and streamlined system interoperability. </a:t>
                      </a:r>
                      <a:r>
                        <a:rPr lang="en-GB" sz="1100" kern="1200" noProof="0">
                          <a:solidFill>
                            <a:srgbClr val="4C565C"/>
                          </a:solidFill>
                          <a:latin typeface="+mn-lt"/>
                          <a:ea typeface="+mn-ea"/>
                          <a:cs typeface="+mn-cs"/>
                        </a:rPr>
                        <a:t>Optimised system performance and data flows, delivering reliable, production-grade solutions.</a:t>
                      </a:r>
                      <a:endParaRPr lang="en-GB" sz="1100" kern="1200" noProof="0" dirty="0">
                        <a:solidFill>
                          <a:srgbClr val="4C565C"/>
                        </a:solidFill>
                        <a:latin typeface="+mn-lt"/>
                        <a:ea typeface="+mn-ea"/>
                        <a:cs typeface="+mn-cs"/>
                      </a:endParaRPr>
                    </a:p>
                  </a:txBody>
                  <a:tcPr marL="0" marR="0" marT="0" marB="0">
                    <a:lnL w="0">
                      <a:noFill/>
                    </a:lnL>
                    <a:lnR w="0">
                      <a:noFill/>
                    </a:lnR>
                    <a:lnT w="0">
                      <a:noFill/>
                    </a:lnT>
                    <a:lnB w="0">
                      <a:noFill/>
                    </a:lnB>
                    <a:noFill/>
                  </a:tcPr>
                </a:tc>
                <a:extLst>
                  <a:ext uri="{0D108BD9-81ED-4DB2-BD59-A6C34878D82A}">
                    <a16:rowId xmlns:a16="http://schemas.microsoft.com/office/drawing/2014/main" val="2632317988"/>
                  </a:ext>
                </a:extLst>
              </a:tr>
            </a:tbl>
          </a:graphicData>
        </a:graphic>
      </p:graphicFrame>
    </p:spTree>
    <p:extLst>
      <p:ext uri="{BB962C8B-B14F-4D97-AF65-F5344CB8AC3E}">
        <p14:creationId xmlns:p14="http://schemas.microsoft.com/office/powerpoint/2010/main" val="7165539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2A71B2-DD1E-CE5F-4EFA-52FC18F0FEED}"/>
            </a:ext>
          </a:extLst>
        </p:cNvPr>
        <p:cNvGrpSpPr/>
        <p:nvPr/>
      </p:nvGrpSpPr>
      <p:grpSpPr>
        <a:xfrm>
          <a:off x="0" y="0"/>
          <a:ext cx="0" cy="0"/>
          <a:chOff x="0" y="0"/>
          <a:chExt cx="0" cy="0"/>
        </a:xfrm>
      </p:grpSpPr>
      <p:pic>
        <p:nvPicPr>
          <p:cNvPr id="14" name="object 14">
            <a:extLst>
              <a:ext uri="{FF2B5EF4-FFF2-40B4-BE49-F238E27FC236}">
                <a16:creationId xmlns:a16="http://schemas.microsoft.com/office/drawing/2014/main" id="{C31A1BB1-4850-AF10-C4C9-6917C5C90B3D}"/>
              </a:ext>
            </a:extLst>
          </p:cNvPr>
          <p:cNvPicPr/>
          <p:nvPr/>
        </p:nvPicPr>
        <p:blipFill>
          <a:blip r:embed="rId2" cstate="print"/>
          <a:stretch>
            <a:fillRect/>
          </a:stretch>
        </p:blipFill>
        <p:spPr>
          <a:xfrm>
            <a:off x="104168" y="116416"/>
            <a:ext cx="1839447" cy="1298433"/>
          </a:xfrm>
          <a:prstGeom prst="rect">
            <a:avLst/>
          </a:prstGeom>
        </p:spPr>
      </p:pic>
      <p:sp>
        <p:nvSpPr>
          <p:cNvPr id="15" name="object 15">
            <a:extLst>
              <a:ext uri="{FF2B5EF4-FFF2-40B4-BE49-F238E27FC236}">
                <a16:creationId xmlns:a16="http://schemas.microsoft.com/office/drawing/2014/main" id="{74B0D1FA-6592-DD94-5A8A-150FAF95924D}"/>
              </a:ext>
            </a:extLst>
          </p:cNvPr>
          <p:cNvSpPr txBox="1">
            <a:spLocks noGrp="1"/>
          </p:cNvSpPr>
          <p:nvPr>
            <p:ph type="sldNum" sz="quarter" idx="7"/>
          </p:nvPr>
        </p:nvSpPr>
        <p:spPr>
          <a:xfrm>
            <a:off x="11520251" y="6409362"/>
            <a:ext cx="151765" cy="145415"/>
          </a:xfrm>
          <a:prstGeom prst="rect">
            <a:avLst/>
          </a:prstGeom>
        </p:spPr>
        <p:txBody>
          <a:bodyPr vert="horz" wrap="square" lIns="0" tIns="0" rIns="0" bIns="0" rtlCol="0">
            <a:spAutoFit/>
          </a:bodyPr>
          <a:lstStyle>
            <a:defPPr>
              <a:defRPr lang="en-US"/>
            </a:defPPr>
            <a:lvl1pPr marL="0" algn="l" defTabSz="914400" rtl="0" eaLnBrk="1" latinLnBrk="0" hangingPunct="1">
              <a:defRPr sz="800" b="0" i="0" kern="1200">
                <a:solidFill>
                  <a:srgbClr val="0B2240"/>
                </a:solidFill>
                <a:latin typeface="Gill Sans MT"/>
                <a:ea typeface="+mn-ea"/>
                <a:cs typeface="Gill Sans M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marR="0" lvl="0" indent="0" defTabSz="914400" eaLnBrk="1" fontAlgn="auto" latinLnBrk="0" hangingPunct="1">
              <a:lnSpc>
                <a:spcPct val="100000"/>
              </a:lnSpc>
              <a:spcBef>
                <a:spcPts val="45"/>
              </a:spcBef>
              <a:spcAft>
                <a:spcPts val="0"/>
              </a:spcAft>
              <a:buClrTx/>
              <a:buSzTx/>
              <a:buFontTx/>
              <a:buNone/>
              <a:tabLst/>
              <a:defRPr/>
            </a:pPr>
            <a:fld id="{81D60167-4931-47E6-BA6A-407CBD079E47}" type="slidenum">
              <a:rPr lang="en-GB" spc="35" smtClean="0"/>
              <a:pPr marL="38100" marR="0" lvl="0" indent="0" defTabSz="914400" eaLnBrk="1" fontAlgn="auto" latinLnBrk="0" hangingPunct="1">
                <a:lnSpc>
                  <a:spcPct val="100000"/>
                </a:lnSpc>
                <a:spcBef>
                  <a:spcPts val="45"/>
                </a:spcBef>
                <a:spcAft>
                  <a:spcPts val="0"/>
                </a:spcAft>
                <a:buClrTx/>
                <a:buSzTx/>
                <a:buFontTx/>
                <a:buNone/>
                <a:tabLst/>
                <a:defRPr/>
              </a:pPr>
              <a:t>4</a:t>
            </a:fld>
            <a:endParaRPr kumimoji="0" sz="800" b="0" i="0" u="none" strike="noStrike" kern="0" cap="none" spc="35" normalizeH="0" baseline="0" noProof="0">
              <a:ln>
                <a:noFill/>
              </a:ln>
              <a:solidFill>
                <a:srgbClr val="0B2240"/>
              </a:solidFill>
              <a:effectLst/>
              <a:uLnTx/>
              <a:uFillTx/>
              <a:latin typeface="Gill Sans MT"/>
            </a:endParaRPr>
          </a:p>
        </p:txBody>
      </p:sp>
      <p:sp>
        <p:nvSpPr>
          <p:cNvPr id="8" name="object 13">
            <a:extLst>
              <a:ext uri="{FF2B5EF4-FFF2-40B4-BE49-F238E27FC236}">
                <a16:creationId xmlns:a16="http://schemas.microsoft.com/office/drawing/2014/main" id="{F16A8127-CE03-C651-A496-1F5C8D04FD36}"/>
              </a:ext>
            </a:extLst>
          </p:cNvPr>
          <p:cNvSpPr txBox="1"/>
          <p:nvPr/>
        </p:nvSpPr>
        <p:spPr>
          <a:xfrm>
            <a:off x="223200" y="1617531"/>
            <a:ext cx="3662387" cy="4823756"/>
          </a:xfrm>
          <a:prstGeom prst="rect">
            <a:avLst/>
          </a:prstGeom>
        </p:spPr>
        <p:txBody>
          <a:bodyPr vert="horz" wrap="square" lIns="0" tIns="12065" rIns="0" bIns="0" rtlCol="0" anchor="t">
            <a:spAutoFit/>
          </a:bodyPr>
          <a:lstStyle/>
          <a:p>
            <a:pPr marL="12700">
              <a:spcBef>
                <a:spcPts val="95"/>
              </a:spcBef>
              <a:spcAft>
                <a:spcPts val="600"/>
              </a:spcAft>
              <a:defRPr/>
            </a:pPr>
            <a:r>
              <a:rPr lang="en-GB" sz="1600" b="1" kern="0" dirty="0">
                <a:solidFill>
                  <a:srgbClr val="0B2240"/>
                </a:solidFill>
                <a:latin typeface="Gill Sans MT"/>
              </a:rPr>
              <a:t>Andrew Pincherle.</a:t>
            </a:r>
            <a:endParaRPr lang="en-US" sz="1600" b="1" kern="0" dirty="0">
              <a:solidFill>
                <a:srgbClr val="0B2240"/>
              </a:solidFill>
              <a:latin typeface="Gill Sans MT"/>
            </a:endParaRPr>
          </a:p>
          <a:p>
            <a:pPr marL="12700">
              <a:spcBef>
                <a:spcPts val="95"/>
              </a:spcBef>
              <a:spcAft>
                <a:spcPts val="600"/>
              </a:spcAft>
              <a:defRPr/>
            </a:pPr>
            <a:r>
              <a:rPr lang="en-GB" sz="1600" b="1" kern="0" dirty="0">
                <a:solidFill>
                  <a:srgbClr val="0B2240"/>
                </a:solidFill>
                <a:latin typeface="Gill Sans MT"/>
              </a:rPr>
              <a:t>Senior Developer</a:t>
            </a:r>
            <a:endParaRPr lang="en-US" sz="1600" b="1" kern="0" dirty="0">
              <a:solidFill>
                <a:srgbClr val="0B2240"/>
              </a:solidFill>
              <a:latin typeface="Gill Sans MT"/>
            </a:endParaRPr>
          </a:p>
          <a:p>
            <a:pPr fontAlgn="base"/>
            <a:r>
              <a:rPr lang="en-GB" sz="1100" dirty="0">
                <a:solidFill>
                  <a:srgbClr val="4C565C"/>
                </a:solidFill>
                <a:cs typeface="Calibri"/>
              </a:rPr>
              <a:t>Experienced software engineer with 24 years in financial services, specialising in designing, building, and optimising complex systems. Skilled in coding, solution architecture, and data-driven design, with a strong focus on code quality, performance, and maintainability. Proven expertise delivering secure, scalable platforms through clean, testable code and modern development practices across trading, payments, and financial data systems.</a:t>
            </a:r>
            <a:endParaRPr lang="en-GB" sz="1100" dirty="0">
              <a:solidFill>
                <a:srgbClr val="4C565C"/>
              </a:solidFill>
              <a:ea typeface="Calibri"/>
              <a:cs typeface="Calibri"/>
            </a:endParaRPr>
          </a:p>
          <a:p>
            <a:pPr fontAlgn="base"/>
            <a:endParaRPr lang="en-GB" sz="1100" b="1">
              <a:solidFill>
                <a:srgbClr val="4C565C"/>
              </a:solidFill>
              <a:cs typeface="Calibri"/>
            </a:endParaRPr>
          </a:p>
          <a:p>
            <a:pPr marL="12700">
              <a:spcBef>
                <a:spcPts val="95"/>
              </a:spcBef>
              <a:spcAft>
                <a:spcPts val="600"/>
              </a:spcAft>
              <a:defRPr/>
            </a:pPr>
            <a:r>
              <a:rPr lang="en-GB" sz="1100" b="1" kern="0" dirty="0">
                <a:solidFill>
                  <a:srgbClr val="171717"/>
                </a:solidFill>
                <a:latin typeface="Gill Sans MT"/>
              </a:rPr>
              <a:t>Key areas of expertise:</a:t>
            </a:r>
          </a:p>
          <a:p>
            <a:pPr marL="171450" indent="-171450">
              <a:buFont typeface="Arial" panose="020B0604020202020204" pitchFamily="34" charset="0"/>
              <a:buChar char="•"/>
            </a:pPr>
            <a:r>
              <a:rPr lang="en-GB" sz="1100" dirty="0">
                <a:latin typeface="Gill Sans MT"/>
              </a:rPr>
              <a:t>Leadership &amp; methodologies: </a:t>
            </a:r>
            <a:r>
              <a:rPr lang="en-GB" sz="1100" dirty="0">
                <a:solidFill>
                  <a:srgbClr val="4C565C"/>
                </a:solidFill>
                <a:cs typeface="Arial"/>
              </a:rPr>
              <a:t>Solution architecture, system design, Agile development practices, Test-Driven Development (TDD), stakeholder collaboration, business analysis</a:t>
            </a:r>
            <a:endParaRPr lang="en-GB" sz="1100" dirty="0">
              <a:solidFill>
                <a:srgbClr val="4C565C"/>
              </a:solidFill>
              <a:ea typeface="Calibri"/>
              <a:cs typeface="Arial"/>
            </a:endParaRPr>
          </a:p>
          <a:p>
            <a:pPr marL="171450" indent="-171450">
              <a:buFont typeface="Arial" panose="020B0604020202020204" pitchFamily="34" charset="0"/>
              <a:buChar char="•"/>
            </a:pPr>
            <a:endParaRPr lang="en-GB" sz="1100">
              <a:solidFill>
                <a:srgbClr val="4C565C"/>
              </a:solidFill>
              <a:latin typeface="Calibri"/>
              <a:ea typeface="Calibri"/>
              <a:cs typeface="Arial"/>
            </a:endParaRPr>
          </a:p>
          <a:p>
            <a:pPr marL="171450" indent="-171450">
              <a:buFont typeface="Arial" panose="020B0604020202020204" pitchFamily="34" charset="0"/>
              <a:buChar char="•"/>
            </a:pPr>
            <a:r>
              <a:rPr lang="en-GB" sz="1100" dirty="0">
                <a:latin typeface="Gill Sans MT"/>
              </a:rPr>
              <a:t>Languages &amp; frameworks: </a:t>
            </a:r>
            <a:r>
              <a:rPr lang="en-GB" sz="1100" dirty="0">
                <a:solidFill>
                  <a:srgbClr val="4C565C"/>
                </a:solidFill>
                <a:cs typeface="Arial"/>
              </a:rPr>
              <a:t>Java, C#, Python (pandas, NumPy, </a:t>
            </a:r>
            <a:r>
              <a:rPr lang="en-GB" sz="1100" dirty="0" err="1">
                <a:solidFill>
                  <a:srgbClr val="4C565C"/>
                </a:solidFill>
                <a:cs typeface="Arial"/>
              </a:rPr>
              <a:t>Pydantic</a:t>
            </a:r>
            <a:r>
              <a:rPr lang="en-GB" sz="1100" dirty="0">
                <a:solidFill>
                  <a:srgbClr val="4C565C"/>
                </a:solidFill>
                <a:cs typeface="Arial"/>
              </a:rPr>
              <a:t>, </a:t>
            </a:r>
            <a:r>
              <a:rPr lang="en-GB" sz="1100" dirty="0" err="1">
                <a:solidFill>
                  <a:srgbClr val="4C565C"/>
                </a:solidFill>
                <a:cs typeface="Arial"/>
              </a:rPr>
              <a:t>FastAPI</a:t>
            </a:r>
            <a:r>
              <a:rPr lang="en-GB" sz="1100" dirty="0">
                <a:solidFill>
                  <a:srgbClr val="4C565C"/>
                </a:solidFill>
                <a:cs typeface="Arial"/>
              </a:rPr>
              <a:t>), SQL</a:t>
            </a:r>
            <a:endParaRPr lang="en-GB" sz="1100" dirty="0">
              <a:solidFill>
                <a:srgbClr val="4C565C"/>
              </a:solidFill>
              <a:ea typeface="Calibri"/>
              <a:cs typeface="Arial"/>
            </a:endParaRPr>
          </a:p>
          <a:p>
            <a:pPr marL="171450" indent="-171450">
              <a:buFont typeface="Arial" panose="020B0604020202020204" pitchFamily="34" charset="0"/>
              <a:buChar char="•"/>
            </a:pPr>
            <a:endParaRPr lang="en-GB" sz="1100">
              <a:solidFill>
                <a:srgbClr val="4C565C"/>
              </a:solidFill>
              <a:latin typeface="Calibri"/>
              <a:ea typeface="Calibri"/>
              <a:cs typeface="Arial"/>
            </a:endParaRPr>
          </a:p>
          <a:p>
            <a:pPr marL="171450" indent="-171450">
              <a:buFont typeface="Arial" panose="020B0604020202020204" pitchFamily="34" charset="0"/>
              <a:buChar char="•"/>
            </a:pPr>
            <a:r>
              <a:rPr lang="en-GB" sz="1100" dirty="0">
                <a:latin typeface="Gill Sans MT"/>
              </a:rPr>
              <a:t>Data technologies &amp; platforms: </a:t>
            </a:r>
            <a:r>
              <a:rPr lang="en-GB" sz="1100" dirty="0">
                <a:solidFill>
                  <a:srgbClr val="4C565C"/>
                </a:solidFill>
                <a:cs typeface="Arial"/>
              </a:rPr>
              <a:t>Kafka, Spark, Redis, Elasticsearch, NoSQL, Oracle, Sybase, db2, Postgres</a:t>
            </a:r>
            <a:endParaRPr lang="en-GB" sz="1100" dirty="0">
              <a:solidFill>
                <a:srgbClr val="4C565C"/>
              </a:solidFill>
              <a:ea typeface="Calibri"/>
              <a:cs typeface="Arial"/>
            </a:endParaRPr>
          </a:p>
          <a:p>
            <a:pPr marL="171450" indent="-171450">
              <a:buFont typeface="Arial" panose="020B0604020202020204" pitchFamily="34" charset="0"/>
              <a:buChar char="•"/>
            </a:pPr>
            <a:endParaRPr lang="en-GB" sz="1100">
              <a:solidFill>
                <a:srgbClr val="4C565C"/>
              </a:solidFill>
              <a:latin typeface="Calibri"/>
              <a:ea typeface="Calibri"/>
              <a:cs typeface="Arial"/>
            </a:endParaRPr>
          </a:p>
          <a:p>
            <a:pPr marL="171450" indent="-171450">
              <a:buFont typeface="Arial" panose="020B0604020202020204" pitchFamily="34" charset="0"/>
              <a:buChar char="•"/>
            </a:pPr>
            <a:r>
              <a:rPr lang="en-GB" sz="1100" dirty="0">
                <a:latin typeface="Gill Sans MT"/>
              </a:rPr>
              <a:t>DevOps, CI/CD &amp; tooling: </a:t>
            </a:r>
            <a:r>
              <a:rPr lang="en-GB" sz="1100" dirty="0">
                <a:solidFill>
                  <a:srgbClr val="4C565C"/>
                </a:solidFill>
                <a:cs typeface="Arial"/>
              </a:rPr>
              <a:t>Azure, AWS, Kubernetes, Docker, Jenkins, Azure DevOps, Bitbucket, Jira, Confluence</a:t>
            </a:r>
            <a:endParaRPr lang="en-GB" sz="1100" dirty="0">
              <a:solidFill>
                <a:srgbClr val="4C565C"/>
              </a:solidFill>
              <a:ea typeface="Calibri"/>
              <a:cs typeface="Arial"/>
            </a:endParaRPr>
          </a:p>
        </p:txBody>
      </p:sp>
      <p:graphicFrame>
        <p:nvGraphicFramePr>
          <p:cNvPr id="12" name="Table 11">
            <a:extLst>
              <a:ext uri="{FF2B5EF4-FFF2-40B4-BE49-F238E27FC236}">
                <a16:creationId xmlns:a16="http://schemas.microsoft.com/office/drawing/2014/main" id="{73FD471B-BBB7-C5BB-0ED6-3CE7558D9CBB}"/>
              </a:ext>
            </a:extLst>
          </p:cNvPr>
          <p:cNvGraphicFramePr>
            <a:graphicFrameLocks noGrp="1"/>
          </p:cNvGraphicFramePr>
          <p:nvPr/>
        </p:nvGraphicFramePr>
        <p:xfrm>
          <a:off x="5068800" y="470602"/>
          <a:ext cx="6603998" cy="5842139"/>
        </p:xfrm>
        <a:graphic>
          <a:graphicData uri="http://schemas.openxmlformats.org/drawingml/2006/table">
            <a:tbl>
              <a:tblPr bandRow="1">
                <a:tableStyleId>{5C22544A-7EE6-4342-B048-85BDC9FD1C3A}</a:tableStyleId>
              </a:tblPr>
              <a:tblGrid>
                <a:gridCol w="1483222">
                  <a:extLst>
                    <a:ext uri="{9D8B030D-6E8A-4147-A177-3AD203B41FA5}">
                      <a16:colId xmlns:a16="http://schemas.microsoft.com/office/drawing/2014/main" val="1742380137"/>
                    </a:ext>
                  </a:extLst>
                </a:gridCol>
                <a:gridCol w="5120776">
                  <a:extLst>
                    <a:ext uri="{9D8B030D-6E8A-4147-A177-3AD203B41FA5}">
                      <a16:colId xmlns:a16="http://schemas.microsoft.com/office/drawing/2014/main" val="2412837540"/>
                    </a:ext>
                  </a:extLst>
                </a:gridCol>
              </a:tblGrid>
              <a:tr h="133114">
                <a:tc>
                  <a:txBody>
                    <a:bodyPr/>
                    <a:lstStyle/>
                    <a:p>
                      <a:pPr marL="457200" lvl="1" indent="0" algn="l">
                        <a:spcAft>
                          <a:spcPts val="300"/>
                        </a:spcAft>
                        <a:buNone/>
                      </a:pPr>
                      <a:endParaRPr lang="en-GB" sz="1000" kern="1200" noProof="0">
                        <a:solidFill>
                          <a:srgbClr val="4C565C"/>
                        </a:solidFill>
                        <a:latin typeface="+mn-lt"/>
                        <a:ea typeface="+mn-ea"/>
                        <a:cs typeface="+mn-cs"/>
                      </a:endParaRPr>
                    </a:p>
                  </a:txBody>
                  <a:tcPr marL="0" marR="0" marT="0" marB="0">
                    <a:lnL w="0">
                      <a:noFill/>
                    </a:lnL>
                    <a:lnR w="0">
                      <a:noFill/>
                    </a:lnR>
                    <a:lnT w="0">
                      <a:noFill/>
                    </a:lnT>
                    <a:lnB w="0">
                      <a:noFill/>
                    </a:lnB>
                    <a:noFill/>
                  </a:tcPr>
                </a:tc>
                <a:tc>
                  <a:txBody>
                    <a:bodyPr/>
                    <a:lstStyle/>
                    <a:p>
                      <a:pPr marL="0" lvl="0" algn="l">
                        <a:buNone/>
                      </a:pPr>
                      <a:endParaRPr lang="en-GB" sz="900" kern="1200" noProof="0">
                        <a:solidFill>
                          <a:srgbClr val="4C565C"/>
                        </a:solidFill>
                        <a:latin typeface="+mn-lt"/>
                        <a:ea typeface="+mn-ea"/>
                        <a:cs typeface="+mn-cs"/>
                      </a:endParaRPr>
                    </a:p>
                  </a:txBody>
                  <a:tcPr marL="0" marR="0" marT="0" marB="0">
                    <a:lnL w="0">
                      <a:noFill/>
                    </a:lnL>
                    <a:lnR w="0">
                      <a:noFill/>
                    </a:lnR>
                    <a:lnT w="0">
                      <a:noFill/>
                    </a:lnT>
                    <a:lnB w="0">
                      <a:noFill/>
                    </a:lnB>
                    <a:noFill/>
                  </a:tcPr>
                </a:tc>
                <a:extLst>
                  <a:ext uri="{0D108BD9-81ED-4DB2-BD59-A6C34878D82A}">
                    <a16:rowId xmlns:a16="http://schemas.microsoft.com/office/drawing/2014/main" val="1882606432"/>
                  </a:ext>
                </a:extLst>
              </a:tr>
              <a:tr h="1032149">
                <a:tc>
                  <a:txBody>
                    <a:bodyPr/>
                    <a:lstStyle/>
                    <a:p>
                      <a:pPr marL="0" marR="5080" lvl="0" indent="0" algn="l" defTabSz="914400" rtl="0" eaLnBrk="1" fontAlgn="auto" latinLnBrk="0" hangingPunct="1">
                        <a:lnSpc>
                          <a:spcPct val="100000"/>
                        </a:lnSpc>
                        <a:spcBef>
                          <a:spcPts val="0"/>
                        </a:spcBef>
                        <a:spcAft>
                          <a:spcPts val="0"/>
                        </a:spcAft>
                        <a:buClrTx/>
                        <a:buSzTx/>
                        <a:buFontTx/>
                        <a:buNone/>
                        <a:tabLst/>
                        <a:defRPr/>
                      </a:pPr>
                      <a:r>
                        <a:rPr lang="en-GB" sz="1050" kern="0" spc="50" noProof="0" dirty="0">
                          <a:solidFill>
                            <a:srgbClr val="171717"/>
                          </a:solidFill>
                          <a:latin typeface="+mj-lt"/>
                          <a:ea typeface="+mn-ea"/>
                          <a:cs typeface="+mn-cs"/>
                        </a:rPr>
                        <a:t>Leading London Market Digital Placement Platform</a:t>
                      </a:r>
                    </a:p>
                  </a:txBody>
                  <a:tcPr marL="0" marR="0" marT="0" marB="0">
                    <a:lnL>
                      <a:noFill/>
                    </a:lnL>
                    <a:lnR>
                      <a:noFill/>
                    </a:lnR>
                    <a:lnT>
                      <a:noFill/>
                    </a:lnT>
                    <a:lnB>
                      <a:noFill/>
                    </a:lnB>
                    <a:noFill/>
                  </a:tcPr>
                </a:tc>
                <a:tc>
                  <a:txBody>
                    <a:bodyPr/>
                    <a:lstStyle/>
                    <a:p>
                      <a:pPr marL="0" marR="5080" lvl="0" indent="-271780" algn="l">
                        <a:lnSpc>
                          <a:spcPct val="100000"/>
                        </a:lnSpc>
                        <a:spcBef>
                          <a:spcPts val="0"/>
                        </a:spcBef>
                        <a:spcAft>
                          <a:spcPts val="0"/>
                        </a:spcAft>
                        <a:buNone/>
                      </a:pPr>
                      <a:r>
                        <a:rPr lang="en-GB" sz="1100" kern="1200" noProof="0">
                          <a:solidFill>
                            <a:srgbClr val="4C565C"/>
                          </a:solidFill>
                          <a:latin typeface="+mn-lt"/>
                          <a:ea typeface="+mn-ea"/>
                          <a:cs typeface="+mn-cs"/>
                        </a:rPr>
                        <a:t>Designed and developed a new cloud-native placement platform for the London Market insurance sector using a modern C# microservices and micro-UI architecture. Built and integrated Azure services including containers, static web apps, Bicep templates, and automated DevOps pipelines for scalable deployment. Implemented a MongoDB data layer to manage and optimise data calls across distributed services. Modernised the platform through best-practice software design patterns, creating maintainable, scalable, and future-ready solutions.</a:t>
                      </a:r>
                    </a:p>
                    <a:p>
                      <a:pPr marL="0" marR="5080" lvl="0" indent="-271780" algn="l" defTabSz="914400" rtl="0" eaLnBrk="1" fontAlgn="auto" latinLnBrk="0" hangingPunct="1">
                        <a:lnSpc>
                          <a:spcPct val="100000"/>
                        </a:lnSpc>
                        <a:spcBef>
                          <a:spcPts val="0"/>
                        </a:spcBef>
                        <a:spcAft>
                          <a:spcPts val="0"/>
                        </a:spcAft>
                        <a:buClrTx/>
                        <a:buSzTx/>
                        <a:buFontTx/>
                        <a:buNone/>
                        <a:tabLst/>
                        <a:defRPr/>
                      </a:pPr>
                      <a:endParaRPr lang="en-GB" sz="1100" kern="1200" noProof="0">
                        <a:solidFill>
                          <a:srgbClr val="4C565C"/>
                        </a:solidFill>
                        <a:latin typeface="+mn-lt"/>
                        <a:ea typeface="+mn-ea"/>
                        <a:cs typeface="+mn-cs"/>
                      </a:endParaRPr>
                    </a:p>
                  </a:txBody>
                  <a:tcPr marL="0" marR="0" marT="0" marB="0">
                    <a:lnL>
                      <a:noFill/>
                    </a:lnL>
                    <a:lnR>
                      <a:noFill/>
                    </a:lnR>
                    <a:lnT>
                      <a:noFill/>
                    </a:lnT>
                    <a:lnB>
                      <a:noFill/>
                    </a:lnB>
                    <a:noFill/>
                  </a:tcPr>
                </a:tc>
                <a:extLst>
                  <a:ext uri="{0D108BD9-81ED-4DB2-BD59-A6C34878D82A}">
                    <a16:rowId xmlns:a16="http://schemas.microsoft.com/office/drawing/2014/main" val="2067852543"/>
                  </a:ext>
                </a:extLst>
              </a:tr>
              <a:tr h="1019011">
                <a:tc>
                  <a:txBody>
                    <a:bodyPr/>
                    <a:lstStyle/>
                    <a:p>
                      <a:pPr marL="0" marR="5080" lvl="0" indent="0" algn="l" defTabSz="914400" rtl="0" eaLnBrk="1" fontAlgn="auto" latinLnBrk="0" hangingPunct="1">
                        <a:lnSpc>
                          <a:spcPct val="100000"/>
                        </a:lnSpc>
                        <a:spcBef>
                          <a:spcPts val="0"/>
                        </a:spcBef>
                        <a:spcAft>
                          <a:spcPts val="0"/>
                        </a:spcAft>
                        <a:buClrTx/>
                        <a:buSzTx/>
                        <a:buFontTx/>
                        <a:buNone/>
                        <a:tabLst/>
                        <a:defRPr/>
                      </a:pPr>
                      <a:r>
                        <a:rPr lang="en-GB" sz="1050" kern="0" spc="50" noProof="0" dirty="0">
                          <a:solidFill>
                            <a:srgbClr val="171717"/>
                          </a:solidFill>
                          <a:latin typeface="+mj-lt"/>
                          <a:ea typeface="+mn-ea"/>
                          <a:cs typeface="+mn-cs"/>
                        </a:rPr>
                        <a:t>Global FX Exchange</a:t>
                      </a:r>
                    </a:p>
                  </a:txBody>
                  <a:tcPr marL="0" marR="0" marT="0" marB="0">
                    <a:lnL>
                      <a:noFill/>
                    </a:lnL>
                    <a:lnR>
                      <a:noFill/>
                    </a:lnR>
                    <a:lnT>
                      <a:noFill/>
                    </a:lnT>
                    <a:lnB>
                      <a:noFill/>
                    </a:lnB>
                    <a:noFill/>
                  </a:tcPr>
                </a:tc>
                <a:tc>
                  <a:txBody>
                    <a:bodyPr/>
                    <a:lstStyle/>
                    <a:p>
                      <a:pPr marL="0" marR="5080" lvl="0" indent="-271780" algn="l" rtl="0" eaLnBrk="1" fontAlgn="auto" latinLnBrk="0" hangingPunct="1">
                        <a:lnSpc>
                          <a:spcPct val="100000"/>
                        </a:lnSpc>
                        <a:spcBef>
                          <a:spcPts val="0"/>
                        </a:spcBef>
                        <a:spcAft>
                          <a:spcPts val="0"/>
                        </a:spcAft>
                        <a:buClrTx/>
                        <a:buSzTx/>
                        <a:buFontTx/>
                        <a:buNone/>
                      </a:pPr>
                      <a:r>
                        <a:rPr lang="en-GB" sz="1100" kern="1200" noProof="0" dirty="0">
                          <a:solidFill>
                            <a:srgbClr val="4C565C"/>
                          </a:solidFill>
                          <a:latin typeface="+mn-lt"/>
                          <a:ea typeface="+mn-ea"/>
                          <a:cs typeface="+mn-cs"/>
                        </a:rPr>
                        <a:t>Designed and built Java microservices for real-time FX order execution and RFQ workflows requiring ultra-low latency and high responsiveness. Implemented Kafka-based event streaming to enable reliable, real-time data exchange and system decoupling. Applied test-driven development, CI/CD pipelines, and Agile practices to deliver robust, high-quality trading components with rapid iteration and continuous improvement. </a:t>
                      </a:r>
                      <a:r>
                        <a:rPr lang="en-GB" sz="1100" b="0" i="0" u="none" strike="noStrike" kern="1200" noProof="0" dirty="0">
                          <a:solidFill>
                            <a:srgbClr val="4C565C"/>
                          </a:solidFill>
                        </a:rPr>
                        <a:t>I</a:t>
                      </a:r>
                      <a:r>
                        <a:rPr lang="en-GB" sz="1100" kern="1200" noProof="0" dirty="0">
                          <a:solidFill>
                            <a:srgbClr val="4C565C"/>
                          </a:solidFill>
                          <a:latin typeface="+mn-lt"/>
                          <a:ea typeface="+mn-ea"/>
                          <a:cs typeface="+mn-cs"/>
                        </a:rPr>
                        <a:t>ntegrated PostgreSQL database connectivity for trade capture, audit, and reference data storage.</a:t>
                      </a:r>
                    </a:p>
                    <a:p>
                      <a:pPr marL="0" marR="5080" lvl="0" indent="-271780" algn="l" defTabSz="914400" rtl="0" eaLnBrk="1" fontAlgn="auto" latinLnBrk="0" hangingPunct="1">
                        <a:lnSpc>
                          <a:spcPct val="100000"/>
                        </a:lnSpc>
                        <a:spcBef>
                          <a:spcPts val="0"/>
                        </a:spcBef>
                        <a:spcAft>
                          <a:spcPts val="0"/>
                        </a:spcAft>
                        <a:buClrTx/>
                        <a:buSzTx/>
                        <a:buFontTx/>
                        <a:buNone/>
                        <a:tabLst/>
                        <a:defRPr/>
                      </a:pPr>
                      <a:endParaRPr lang="en-GB" sz="1100" kern="1200" noProof="0">
                        <a:solidFill>
                          <a:srgbClr val="4C565C"/>
                        </a:solidFill>
                        <a:latin typeface="+mn-lt"/>
                        <a:ea typeface="+mn-ea"/>
                        <a:cs typeface="+mn-cs"/>
                      </a:endParaRPr>
                    </a:p>
                  </a:txBody>
                  <a:tcPr marL="0" marR="0" marT="0" marB="0">
                    <a:lnL>
                      <a:noFill/>
                    </a:lnL>
                    <a:lnR>
                      <a:noFill/>
                    </a:lnR>
                    <a:lnT>
                      <a:noFill/>
                    </a:lnT>
                    <a:lnB>
                      <a:noFill/>
                    </a:lnB>
                    <a:noFill/>
                  </a:tcPr>
                </a:tc>
                <a:extLst>
                  <a:ext uri="{0D108BD9-81ED-4DB2-BD59-A6C34878D82A}">
                    <a16:rowId xmlns:a16="http://schemas.microsoft.com/office/drawing/2014/main" val="2861070819"/>
                  </a:ext>
                </a:extLst>
              </a:tr>
              <a:tr h="1050017">
                <a:tc>
                  <a:txBody>
                    <a:bodyPr/>
                    <a:lstStyle/>
                    <a:p>
                      <a:pPr marL="0" marR="5080" lvl="0" indent="0" algn="l" defTabSz="914400" rtl="0" eaLnBrk="1" fontAlgn="auto" latinLnBrk="0" hangingPunct="1">
                        <a:lnSpc>
                          <a:spcPct val="100000"/>
                        </a:lnSpc>
                        <a:spcBef>
                          <a:spcPts val="0"/>
                        </a:spcBef>
                        <a:spcAft>
                          <a:spcPts val="0"/>
                        </a:spcAft>
                        <a:buClrTx/>
                        <a:buSzTx/>
                        <a:buFontTx/>
                        <a:buNone/>
                        <a:tabLst/>
                        <a:defRPr/>
                      </a:pPr>
                      <a:r>
                        <a:rPr lang="en-GB" sz="1050" kern="0" spc="50" noProof="0" dirty="0">
                          <a:solidFill>
                            <a:srgbClr val="171717"/>
                          </a:solidFill>
                          <a:latin typeface="+mj-lt"/>
                          <a:ea typeface="+mn-ea"/>
                          <a:cs typeface="+mn-cs"/>
                        </a:rPr>
                        <a:t>Global Systemically Important Bank</a:t>
                      </a:r>
                    </a:p>
                  </a:txBody>
                  <a:tcPr marL="0" marR="0" marT="0" marB="0">
                    <a:lnL>
                      <a:noFill/>
                    </a:lnL>
                    <a:lnR>
                      <a:noFill/>
                    </a:lnR>
                    <a:lnT>
                      <a:noFill/>
                    </a:lnT>
                    <a:lnB>
                      <a:noFill/>
                    </a:lnB>
                    <a:noFill/>
                  </a:tcPr>
                </a:tc>
                <a:tc>
                  <a:txBody>
                    <a:bodyPr/>
                    <a:lstStyle/>
                    <a:p>
                      <a:pPr marL="0" marR="5080" lvl="0" indent="-271780" algn="l" rtl="0" eaLnBrk="1" fontAlgn="auto" latinLnBrk="0" hangingPunct="1">
                        <a:lnSpc>
                          <a:spcPct val="100000"/>
                        </a:lnSpc>
                        <a:spcBef>
                          <a:spcPts val="0"/>
                        </a:spcBef>
                        <a:spcAft>
                          <a:spcPts val="0"/>
                        </a:spcAft>
                        <a:buClrTx/>
                        <a:buSzTx/>
                        <a:buFontTx/>
                        <a:buNone/>
                      </a:pPr>
                      <a:r>
                        <a:rPr lang="en-GB" sz="1100" kern="1200" noProof="0" dirty="0">
                          <a:solidFill>
                            <a:srgbClr val="4C565C"/>
                          </a:solidFill>
                          <a:latin typeface="+mn-lt"/>
                          <a:ea typeface="+mn-ea"/>
                          <a:cs typeface="+mn-cs"/>
                        </a:rPr>
                        <a:t>Developed and enhanced core modules for a Java cash management and reconciliation platform. Created technical specifications, refactored legacy components, and automated reconciliation processes. Implemented CI/CD pipelines, API-based integration with downstream systems, and test frameworks to improve deployment speed and reliability. Used Python scripts for data evaluation / data science and connected to SQL databases for transactional data analysis and reporting.</a:t>
                      </a:r>
                    </a:p>
                    <a:p>
                      <a:pPr marL="0" marR="5080" lvl="0" indent="-271780" algn="l">
                        <a:lnSpc>
                          <a:spcPct val="100000"/>
                        </a:lnSpc>
                        <a:spcBef>
                          <a:spcPts val="0"/>
                        </a:spcBef>
                        <a:spcAft>
                          <a:spcPts val="0"/>
                        </a:spcAft>
                        <a:buClrTx/>
                        <a:buSzTx/>
                        <a:buFontTx/>
                        <a:buNone/>
                      </a:pPr>
                      <a:endParaRPr lang="en-GB" sz="1100" kern="1200" noProof="0">
                        <a:solidFill>
                          <a:srgbClr val="4C565C"/>
                        </a:solidFill>
                        <a:latin typeface="+mn-lt"/>
                        <a:ea typeface="+mn-ea"/>
                        <a:cs typeface="+mn-cs"/>
                      </a:endParaRPr>
                    </a:p>
                  </a:txBody>
                  <a:tcPr marL="0" marR="0" marT="0" marB="0">
                    <a:lnL>
                      <a:noFill/>
                    </a:lnL>
                    <a:lnR>
                      <a:noFill/>
                    </a:lnR>
                    <a:lnT>
                      <a:noFill/>
                    </a:lnT>
                    <a:lnB>
                      <a:noFill/>
                    </a:lnB>
                    <a:noFill/>
                  </a:tcPr>
                </a:tc>
                <a:extLst>
                  <a:ext uri="{0D108BD9-81ED-4DB2-BD59-A6C34878D82A}">
                    <a16:rowId xmlns:a16="http://schemas.microsoft.com/office/drawing/2014/main" val="1428288774"/>
                  </a:ext>
                </a:extLst>
              </a:tr>
              <a:tr h="995819">
                <a:tc>
                  <a:txBody>
                    <a:bodyPr/>
                    <a:lstStyle/>
                    <a:p>
                      <a:pPr marL="0" marR="5080" lvl="0" indent="0" algn="l" defTabSz="914400" rtl="0" eaLnBrk="1" fontAlgn="auto" latinLnBrk="0" hangingPunct="1">
                        <a:lnSpc>
                          <a:spcPct val="100000"/>
                        </a:lnSpc>
                        <a:spcBef>
                          <a:spcPts val="0"/>
                        </a:spcBef>
                        <a:spcAft>
                          <a:spcPts val="0"/>
                        </a:spcAft>
                        <a:buClrTx/>
                        <a:buSzTx/>
                        <a:buFontTx/>
                        <a:buNone/>
                        <a:tabLst/>
                        <a:defRPr/>
                      </a:pPr>
                      <a:r>
                        <a:rPr lang="en-GB" sz="1050" kern="0" spc="50" noProof="0" dirty="0">
                          <a:solidFill>
                            <a:srgbClr val="171717"/>
                          </a:solidFill>
                          <a:latin typeface="+mj-lt"/>
                          <a:ea typeface="+mn-ea"/>
                          <a:cs typeface="+mn-cs"/>
                        </a:rPr>
                        <a:t>Global Systemically Important Bank</a:t>
                      </a:r>
                    </a:p>
                  </a:txBody>
                  <a:tcPr marL="0" marR="0" marT="0" marB="0">
                    <a:lnL w="0">
                      <a:noFill/>
                    </a:lnL>
                    <a:lnR w="0">
                      <a:noFill/>
                    </a:lnR>
                    <a:lnT w="0">
                      <a:noFill/>
                    </a:lnT>
                    <a:lnB w="0">
                      <a:noFill/>
                    </a:lnB>
                    <a:noFill/>
                  </a:tcPr>
                </a:tc>
                <a:tc>
                  <a:txBody>
                    <a:bodyPr/>
                    <a:lstStyle/>
                    <a:p>
                      <a:pPr marL="0" marR="5080" lvl="0" indent="-271780" algn="l" defTabSz="914400" rtl="0" eaLnBrk="1" fontAlgn="auto" latinLnBrk="0" hangingPunct="1">
                        <a:lnSpc>
                          <a:spcPct val="100000"/>
                        </a:lnSpc>
                        <a:spcBef>
                          <a:spcPts val="0"/>
                        </a:spcBef>
                        <a:spcAft>
                          <a:spcPts val="0"/>
                        </a:spcAft>
                        <a:buClrTx/>
                        <a:buSzTx/>
                        <a:buFontTx/>
                        <a:buNone/>
                        <a:tabLst/>
                        <a:defRPr/>
                      </a:pPr>
                      <a:r>
                        <a:rPr lang="en-GB" sz="1100" kern="1200" noProof="0" dirty="0">
                          <a:solidFill>
                            <a:srgbClr val="4C565C"/>
                          </a:solidFill>
                          <a:latin typeface="+mn-lt"/>
                          <a:ea typeface="+mn-ea"/>
                          <a:cs typeface="+mn-cs"/>
                        </a:rPr>
                        <a:t>Developed microservices and front-end components in Java for a platform generating financial indices from market data. Built Python scripts for data processing, analysis, and automation. Integrated multiple internal and external APIs into a unified service bus, enabling seamless data exchange and streamlined system interoperability. Optimised system performance and data flows, delivering reliable, production-grade solutions.</a:t>
                      </a:r>
                    </a:p>
                  </a:txBody>
                  <a:tcPr marL="0" marR="0" marT="0" marB="0">
                    <a:lnL w="0">
                      <a:noFill/>
                    </a:lnL>
                    <a:lnR w="0">
                      <a:noFill/>
                    </a:lnR>
                    <a:lnT w="0">
                      <a:noFill/>
                    </a:lnT>
                    <a:lnB w="0">
                      <a:noFill/>
                    </a:lnB>
                    <a:noFill/>
                  </a:tcPr>
                </a:tc>
                <a:extLst>
                  <a:ext uri="{0D108BD9-81ED-4DB2-BD59-A6C34878D82A}">
                    <a16:rowId xmlns:a16="http://schemas.microsoft.com/office/drawing/2014/main" val="2632317988"/>
                  </a:ext>
                </a:extLst>
              </a:tr>
              <a:tr h="995819">
                <a:tc>
                  <a:txBody>
                    <a:bodyPr/>
                    <a:lstStyle/>
                    <a:p>
                      <a:pPr marL="0" lvl="0" indent="0" algn="l">
                        <a:lnSpc>
                          <a:spcPct val="100000"/>
                        </a:lnSpc>
                        <a:spcBef>
                          <a:spcPts val="0"/>
                        </a:spcBef>
                        <a:spcAft>
                          <a:spcPts val="0"/>
                        </a:spcAft>
                        <a:buNone/>
                      </a:pPr>
                      <a:r>
                        <a:rPr lang="en-GB" sz="1050" kern="0" spc="50" noProof="0" dirty="0">
                          <a:solidFill>
                            <a:srgbClr val="171717"/>
                          </a:solidFill>
                          <a:latin typeface="+mj-lt"/>
                          <a:ea typeface="+mn-ea"/>
                          <a:cs typeface="+mn-cs"/>
                        </a:rPr>
                        <a:t>Global Fintech </a:t>
                      </a:r>
                    </a:p>
                  </a:txBody>
                  <a:tcPr marL="0" marR="0" marT="0" marB="0">
                    <a:lnL w="0">
                      <a:noFill/>
                    </a:lnL>
                    <a:lnR w="0">
                      <a:noFill/>
                    </a:lnR>
                    <a:lnT w="0">
                      <a:noFill/>
                    </a:lnT>
                    <a:lnB w="0">
                      <a:noFill/>
                    </a:lnB>
                    <a:noFill/>
                  </a:tcPr>
                </a:tc>
                <a:tc>
                  <a:txBody>
                    <a:bodyPr/>
                    <a:lstStyle/>
                    <a:p>
                      <a:pPr marL="0" lvl="0" indent="-271780" algn="l">
                        <a:lnSpc>
                          <a:spcPct val="100000"/>
                        </a:lnSpc>
                        <a:spcBef>
                          <a:spcPts val="0"/>
                        </a:spcBef>
                        <a:spcAft>
                          <a:spcPts val="0"/>
                        </a:spcAft>
                        <a:buNone/>
                      </a:pPr>
                      <a:r>
                        <a:rPr lang="en-GB" sz="1100" kern="1200" noProof="0" dirty="0">
                          <a:solidFill>
                            <a:srgbClr val="4C565C"/>
                          </a:solidFill>
                          <a:latin typeface="+mn-lt"/>
                          <a:ea typeface="+mn-ea"/>
                          <a:cs typeface="+mn-cs"/>
                        </a:rPr>
                        <a:t>Created an extensive Webservice suite to expose the ION FX trading portal and trading blotter, enabling standardized integration across trading, risk, and back-office systems. Engineered services both in Java and C# to call and handle non-standard back-office API result types, including string data separated by special characters. Implemented robust string tokenization and parsing logic to convert raw API responses into structured object models and JSON formats, ensuring consistent and reliable data exchange across system</a:t>
                      </a:r>
                      <a:r>
                        <a:rPr lang="en-GB" sz="1100" b="0" i="0" u="none" strike="noStrike" kern="1200" noProof="0" dirty="0">
                          <a:solidFill>
                            <a:srgbClr val="4C565C"/>
                          </a:solidFill>
                          <a:latin typeface="Calibri"/>
                        </a:rPr>
                        <a:t>s.</a:t>
                      </a:r>
                      <a:endParaRPr lang="en-US" dirty="0">
                        <a:latin typeface="Calibri"/>
                      </a:endParaRPr>
                    </a:p>
                  </a:txBody>
                  <a:tcPr marL="0" marR="0" marT="0" marB="0">
                    <a:lnL w="0">
                      <a:noFill/>
                    </a:lnL>
                    <a:lnR w="0">
                      <a:noFill/>
                    </a:lnR>
                    <a:lnT w="0">
                      <a:noFill/>
                    </a:lnT>
                    <a:lnB w="0">
                      <a:noFill/>
                    </a:lnB>
                    <a:noFill/>
                  </a:tcPr>
                </a:tc>
                <a:extLst>
                  <a:ext uri="{0D108BD9-81ED-4DB2-BD59-A6C34878D82A}">
                    <a16:rowId xmlns:a16="http://schemas.microsoft.com/office/drawing/2014/main" val="4130617639"/>
                  </a:ext>
                </a:extLst>
              </a:tr>
            </a:tbl>
          </a:graphicData>
        </a:graphic>
      </p:graphicFrame>
    </p:spTree>
    <p:extLst>
      <p:ext uri="{BB962C8B-B14F-4D97-AF65-F5344CB8AC3E}">
        <p14:creationId xmlns:p14="http://schemas.microsoft.com/office/powerpoint/2010/main" val="11888222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2A71B2-DD1E-CE5F-4EFA-52FC18F0FEED}"/>
            </a:ext>
          </a:extLst>
        </p:cNvPr>
        <p:cNvGrpSpPr/>
        <p:nvPr/>
      </p:nvGrpSpPr>
      <p:grpSpPr>
        <a:xfrm>
          <a:off x="0" y="0"/>
          <a:ext cx="0" cy="0"/>
          <a:chOff x="0" y="0"/>
          <a:chExt cx="0" cy="0"/>
        </a:xfrm>
      </p:grpSpPr>
      <p:pic>
        <p:nvPicPr>
          <p:cNvPr id="14" name="object 14">
            <a:extLst>
              <a:ext uri="{FF2B5EF4-FFF2-40B4-BE49-F238E27FC236}">
                <a16:creationId xmlns:a16="http://schemas.microsoft.com/office/drawing/2014/main" id="{C31A1BB1-4850-AF10-C4C9-6917C5C90B3D}"/>
              </a:ext>
            </a:extLst>
          </p:cNvPr>
          <p:cNvPicPr/>
          <p:nvPr/>
        </p:nvPicPr>
        <p:blipFill>
          <a:blip r:embed="rId2" cstate="print"/>
          <a:stretch>
            <a:fillRect/>
          </a:stretch>
        </p:blipFill>
        <p:spPr>
          <a:xfrm>
            <a:off x="104168" y="116416"/>
            <a:ext cx="1839447" cy="1298433"/>
          </a:xfrm>
          <a:prstGeom prst="rect">
            <a:avLst/>
          </a:prstGeom>
        </p:spPr>
      </p:pic>
      <p:sp>
        <p:nvSpPr>
          <p:cNvPr id="15" name="object 15">
            <a:extLst>
              <a:ext uri="{FF2B5EF4-FFF2-40B4-BE49-F238E27FC236}">
                <a16:creationId xmlns:a16="http://schemas.microsoft.com/office/drawing/2014/main" id="{74B0D1FA-6592-DD94-5A8A-150FAF95924D}"/>
              </a:ext>
            </a:extLst>
          </p:cNvPr>
          <p:cNvSpPr txBox="1">
            <a:spLocks noGrp="1"/>
          </p:cNvSpPr>
          <p:nvPr>
            <p:ph type="sldNum" sz="quarter" idx="7"/>
          </p:nvPr>
        </p:nvSpPr>
        <p:spPr>
          <a:xfrm>
            <a:off x="11520251" y="6409362"/>
            <a:ext cx="151765" cy="145415"/>
          </a:xfrm>
          <a:prstGeom prst="rect">
            <a:avLst/>
          </a:prstGeom>
        </p:spPr>
        <p:txBody>
          <a:bodyPr vert="horz" wrap="square" lIns="0" tIns="0" rIns="0" bIns="0" rtlCol="0">
            <a:spAutoFit/>
          </a:bodyPr>
          <a:lstStyle>
            <a:defPPr>
              <a:defRPr lang="en-US"/>
            </a:defPPr>
            <a:lvl1pPr marL="0" algn="l" defTabSz="914400" rtl="0" eaLnBrk="1" latinLnBrk="0" hangingPunct="1">
              <a:defRPr sz="800" b="0" i="0" kern="1200">
                <a:solidFill>
                  <a:srgbClr val="0B2240"/>
                </a:solidFill>
                <a:latin typeface="Gill Sans MT"/>
                <a:ea typeface="+mn-ea"/>
                <a:cs typeface="Gill Sans MT"/>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marR="0" lvl="0" indent="0" defTabSz="914400" eaLnBrk="1" fontAlgn="auto" latinLnBrk="0" hangingPunct="1">
              <a:lnSpc>
                <a:spcPct val="100000"/>
              </a:lnSpc>
              <a:spcBef>
                <a:spcPts val="45"/>
              </a:spcBef>
              <a:spcAft>
                <a:spcPts val="0"/>
              </a:spcAft>
              <a:buClrTx/>
              <a:buSzTx/>
              <a:buFontTx/>
              <a:buNone/>
              <a:tabLst/>
              <a:defRPr/>
            </a:pPr>
            <a:fld id="{81D60167-4931-47E6-BA6A-407CBD079E47}" type="slidenum">
              <a:rPr lang="en-GB" spc="35" smtClean="0"/>
              <a:pPr marL="38100" marR="0" lvl="0" indent="0" defTabSz="914400" eaLnBrk="1" fontAlgn="auto" latinLnBrk="0" hangingPunct="1">
                <a:lnSpc>
                  <a:spcPct val="100000"/>
                </a:lnSpc>
                <a:spcBef>
                  <a:spcPts val="45"/>
                </a:spcBef>
                <a:spcAft>
                  <a:spcPts val="0"/>
                </a:spcAft>
                <a:buClrTx/>
                <a:buSzTx/>
                <a:buFontTx/>
                <a:buNone/>
                <a:tabLst/>
                <a:defRPr/>
              </a:pPr>
              <a:t>5</a:t>
            </a:fld>
            <a:endParaRPr kumimoji="0" sz="800" b="0" i="0" u="none" strike="noStrike" kern="0" cap="none" spc="35" normalizeH="0" baseline="0" noProof="0">
              <a:ln>
                <a:noFill/>
              </a:ln>
              <a:solidFill>
                <a:srgbClr val="0B2240"/>
              </a:solidFill>
              <a:effectLst/>
              <a:uLnTx/>
              <a:uFillTx/>
              <a:latin typeface="Gill Sans MT"/>
            </a:endParaRPr>
          </a:p>
        </p:txBody>
      </p:sp>
      <p:sp>
        <p:nvSpPr>
          <p:cNvPr id="8" name="object 13">
            <a:extLst>
              <a:ext uri="{FF2B5EF4-FFF2-40B4-BE49-F238E27FC236}">
                <a16:creationId xmlns:a16="http://schemas.microsoft.com/office/drawing/2014/main" id="{F16A8127-CE03-C651-A496-1F5C8D04FD36}"/>
              </a:ext>
            </a:extLst>
          </p:cNvPr>
          <p:cNvSpPr txBox="1"/>
          <p:nvPr/>
        </p:nvSpPr>
        <p:spPr>
          <a:xfrm>
            <a:off x="223200" y="1617531"/>
            <a:ext cx="3662387" cy="4823756"/>
          </a:xfrm>
          <a:prstGeom prst="rect">
            <a:avLst/>
          </a:prstGeom>
        </p:spPr>
        <p:txBody>
          <a:bodyPr vert="horz" wrap="square" lIns="0" tIns="12065" rIns="0" bIns="0" rtlCol="0" anchor="t">
            <a:spAutoFit/>
          </a:bodyPr>
          <a:lstStyle/>
          <a:p>
            <a:pPr marL="12700">
              <a:spcBef>
                <a:spcPts val="95"/>
              </a:spcBef>
              <a:spcAft>
                <a:spcPts val="600"/>
              </a:spcAft>
              <a:defRPr/>
            </a:pPr>
            <a:r>
              <a:rPr lang="en-GB" sz="1600" b="1" kern="0" dirty="0">
                <a:solidFill>
                  <a:srgbClr val="0B2240"/>
                </a:solidFill>
                <a:latin typeface="Gill Sans MT"/>
              </a:rPr>
              <a:t>Andrew Pincherle.</a:t>
            </a:r>
            <a:endParaRPr lang="en-US" sz="1600" b="1" kern="0" dirty="0">
              <a:solidFill>
                <a:srgbClr val="0B2240"/>
              </a:solidFill>
              <a:latin typeface="Gill Sans MT"/>
            </a:endParaRPr>
          </a:p>
          <a:p>
            <a:pPr marL="12700">
              <a:spcBef>
                <a:spcPts val="95"/>
              </a:spcBef>
              <a:spcAft>
                <a:spcPts val="600"/>
              </a:spcAft>
              <a:defRPr/>
            </a:pPr>
            <a:r>
              <a:rPr lang="en-GB" sz="1600" b="1" kern="0" dirty="0">
                <a:solidFill>
                  <a:srgbClr val="0B2240"/>
                </a:solidFill>
                <a:latin typeface="Gill Sans MT"/>
              </a:rPr>
              <a:t>Senior Developer</a:t>
            </a:r>
            <a:endParaRPr lang="en-US" sz="1600" b="1" kern="0" dirty="0">
              <a:solidFill>
                <a:srgbClr val="0B2240"/>
              </a:solidFill>
              <a:latin typeface="Gill Sans MT"/>
            </a:endParaRPr>
          </a:p>
          <a:p>
            <a:pPr fontAlgn="base"/>
            <a:r>
              <a:rPr lang="en-GB" sz="1100" dirty="0">
                <a:solidFill>
                  <a:srgbClr val="4C565C"/>
                </a:solidFill>
                <a:cs typeface="Calibri"/>
              </a:rPr>
              <a:t>Experienced software engineer with 24 years in financial services, specialising in designing, building, and optimising complex systems. Skilled in coding, solution architecture, and data-driven design, with a strong focus on code quality, performance, and maintainability. Proven expertise delivering secure, scalable platforms through clean, testable code and modern development practices across trading, payments, and financial data systems.</a:t>
            </a:r>
            <a:endParaRPr lang="en-GB" sz="1100" dirty="0">
              <a:solidFill>
                <a:srgbClr val="4C565C"/>
              </a:solidFill>
              <a:ea typeface="Calibri"/>
              <a:cs typeface="Calibri"/>
            </a:endParaRPr>
          </a:p>
          <a:p>
            <a:pPr fontAlgn="base"/>
            <a:endParaRPr lang="en-GB" sz="1100" b="1">
              <a:solidFill>
                <a:srgbClr val="4C565C"/>
              </a:solidFill>
              <a:cs typeface="Calibri"/>
            </a:endParaRPr>
          </a:p>
          <a:p>
            <a:pPr marL="12700">
              <a:spcBef>
                <a:spcPts val="95"/>
              </a:spcBef>
              <a:spcAft>
                <a:spcPts val="600"/>
              </a:spcAft>
              <a:defRPr/>
            </a:pPr>
            <a:r>
              <a:rPr lang="en-GB" sz="1100" b="1" kern="0" dirty="0">
                <a:solidFill>
                  <a:srgbClr val="171717"/>
                </a:solidFill>
                <a:latin typeface="Gill Sans MT"/>
              </a:rPr>
              <a:t>Key areas of expertise:</a:t>
            </a:r>
          </a:p>
          <a:p>
            <a:pPr marL="171450" indent="-171450">
              <a:buFont typeface="Arial" panose="020B0604020202020204" pitchFamily="34" charset="0"/>
              <a:buChar char="•"/>
            </a:pPr>
            <a:r>
              <a:rPr lang="en-GB" sz="1100" dirty="0">
                <a:latin typeface="Gill Sans MT"/>
              </a:rPr>
              <a:t>Leadership &amp; methodologies: </a:t>
            </a:r>
            <a:r>
              <a:rPr lang="en-GB" sz="1100" dirty="0">
                <a:solidFill>
                  <a:srgbClr val="4C565C"/>
                </a:solidFill>
                <a:cs typeface="Arial"/>
              </a:rPr>
              <a:t>Solution architecture, system design, Agile development practices, Test-Driven Development (TDD), stakeholder collaboration, business analysis</a:t>
            </a:r>
            <a:endParaRPr lang="en-GB" sz="1100" dirty="0">
              <a:solidFill>
                <a:srgbClr val="4C565C"/>
              </a:solidFill>
              <a:ea typeface="Calibri"/>
              <a:cs typeface="Arial"/>
            </a:endParaRPr>
          </a:p>
          <a:p>
            <a:pPr marL="171450" indent="-171450">
              <a:buFont typeface="Arial" panose="020B0604020202020204" pitchFamily="34" charset="0"/>
              <a:buChar char="•"/>
            </a:pPr>
            <a:endParaRPr lang="en-GB" sz="1100">
              <a:solidFill>
                <a:srgbClr val="4C565C"/>
              </a:solidFill>
              <a:latin typeface="Calibri"/>
              <a:ea typeface="Calibri"/>
              <a:cs typeface="Arial"/>
            </a:endParaRPr>
          </a:p>
          <a:p>
            <a:pPr marL="171450" indent="-171450">
              <a:buFont typeface="Arial" panose="020B0604020202020204" pitchFamily="34" charset="0"/>
              <a:buChar char="•"/>
            </a:pPr>
            <a:r>
              <a:rPr lang="en-GB" sz="1100" dirty="0">
                <a:latin typeface="Gill Sans MT"/>
              </a:rPr>
              <a:t>Languages &amp; frameworks: </a:t>
            </a:r>
            <a:r>
              <a:rPr lang="en-GB" sz="1100" dirty="0">
                <a:solidFill>
                  <a:srgbClr val="4C565C"/>
                </a:solidFill>
                <a:cs typeface="Arial"/>
              </a:rPr>
              <a:t>Java, C#, Python (pandas, NumPy, </a:t>
            </a:r>
            <a:r>
              <a:rPr lang="en-GB" sz="1100" dirty="0" err="1">
                <a:solidFill>
                  <a:srgbClr val="4C565C"/>
                </a:solidFill>
                <a:cs typeface="Arial"/>
              </a:rPr>
              <a:t>Pydantic</a:t>
            </a:r>
            <a:r>
              <a:rPr lang="en-GB" sz="1100" dirty="0">
                <a:solidFill>
                  <a:srgbClr val="4C565C"/>
                </a:solidFill>
                <a:cs typeface="Arial"/>
              </a:rPr>
              <a:t>, </a:t>
            </a:r>
            <a:r>
              <a:rPr lang="en-GB" sz="1100" dirty="0" err="1">
                <a:solidFill>
                  <a:srgbClr val="4C565C"/>
                </a:solidFill>
                <a:cs typeface="Arial"/>
              </a:rPr>
              <a:t>FastAPI</a:t>
            </a:r>
            <a:r>
              <a:rPr lang="en-GB" sz="1100" dirty="0">
                <a:solidFill>
                  <a:srgbClr val="4C565C"/>
                </a:solidFill>
                <a:cs typeface="Arial"/>
              </a:rPr>
              <a:t>), SQL</a:t>
            </a:r>
            <a:endParaRPr lang="en-GB" sz="1100" dirty="0">
              <a:solidFill>
                <a:srgbClr val="4C565C"/>
              </a:solidFill>
              <a:ea typeface="Calibri"/>
              <a:cs typeface="Arial"/>
            </a:endParaRPr>
          </a:p>
          <a:p>
            <a:pPr marL="171450" indent="-171450">
              <a:buFont typeface="Arial" panose="020B0604020202020204" pitchFamily="34" charset="0"/>
              <a:buChar char="•"/>
            </a:pPr>
            <a:endParaRPr lang="en-GB" sz="1100">
              <a:solidFill>
                <a:srgbClr val="4C565C"/>
              </a:solidFill>
              <a:latin typeface="Calibri"/>
              <a:ea typeface="Calibri"/>
              <a:cs typeface="Arial"/>
            </a:endParaRPr>
          </a:p>
          <a:p>
            <a:pPr marL="171450" indent="-171450">
              <a:buFont typeface="Arial" panose="020B0604020202020204" pitchFamily="34" charset="0"/>
              <a:buChar char="•"/>
            </a:pPr>
            <a:r>
              <a:rPr lang="en-GB" sz="1100" dirty="0">
                <a:latin typeface="Gill Sans MT"/>
              </a:rPr>
              <a:t>Data technologies &amp; platforms: </a:t>
            </a:r>
            <a:r>
              <a:rPr lang="en-GB" sz="1100" dirty="0">
                <a:solidFill>
                  <a:srgbClr val="4C565C"/>
                </a:solidFill>
                <a:cs typeface="Arial"/>
              </a:rPr>
              <a:t>Kafka, Spark, Redis, Elasticsearch, NoSQL, Oracle, Sybase, db2, Postgres</a:t>
            </a:r>
            <a:endParaRPr lang="en-GB" sz="1100" dirty="0">
              <a:solidFill>
                <a:srgbClr val="4C565C"/>
              </a:solidFill>
              <a:ea typeface="Calibri"/>
              <a:cs typeface="Arial"/>
            </a:endParaRPr>
          </a:p>
          <a:p>
            <a:pPr marL="171450" indent="-171450">
              <a:buFont typeface="Arial" panose="020B0604020202020204" pitchFamily="34" charset="0"/>
              <a:buChar char="•"/>
            </a:pPr>
            <a:endParaRPr lang="en-GB" sz="1100">
              <a:solidFill>
                <a:srgbClr val="4C565C"/>
              </a:solidFill>
              <a:latin typeface="Calibri"/>
              <a:ea typeface="Calibri"/>
              <a:cs typeface="Arial"/>
            </a:endParaRPr>
          </a:p>
          <a:p>
            <a:pPr marL="171450" indent="-171450">
              <a:buFont typeface="Arial" panose="020B0604020202020204" pitchFamily="34" charset="0"/>
              <a:buChar char="•"/>
            </a:pPr>
            <a:r>
              <a:rPr lang="en-GB" sz="1100" dirty="0">
                <a:latin typeface="Gill Sans MT"/>
              </a:rPr>
              <a:t>DevOps, CI/CD &amp; tooling: </a:t>
            </a:r>
            <a:r>
              <a:rPr lang="en-GB" sz="1100" dirty="0">
                <a:solidFill>
                  <a:srgbClr val="4C565C"/>
                </a:solidFill>
                <a:cs typeface="Arial"/>
              </a:rPr>
              <a:t>Azure, AWS, Kubernetes, Docker, Jenkins, Azure DevOps, Bitbucket, Jira, Confluence</a:t>
            </a:r>
            <a:endParaRPr lang="en-GB" sz="1100" dirty="0">
              <a:solidFill>
                <a:srgbClr val="4C565C"/>
              </a:solidFill>
              <a:ea typeface="Calibri"/>
              <a:cs typeface="Arial"/>
            </a:endParaRPr>
          </a:p>
        </p:txBody>
      </p:sp>
      <p:graphicFrame>
        <p:nvGraphicFramePr>
          <p:cNvPr id="12" name="Table 11">
            <a:extLst>
              <a:ext uri="{FF2B5EF4-FFF2-40B4-BE49-F238E27FC236}">
                <a16:creationId xmlns:a16="http://schemas.microsoft.com/office/drawing/2014/main" id="{73FD471B-BBB7-C5BB-0ED6-3CE7558D9CBB}"/>
              </a:ext>
            </a:extLst>
          </p:cNvPr>
          <p:cNvGraphicFramePr>
            <a:graphicFrameLocks noGrp="1"/>
          </p:cNvGraphicFramePr>
          <p:nvPr/>
        </p:nvGraphicFramePr>
        <p:xfrm>
          <a:off x="5068800" y="470602"/>
          <a:ext cx="6603998" cy="5842139"/>
        </p:xfrm>
        <a:graphic>
          <a:graphicData uri="http://schemas.openxmlformats.org/drawingml/2006/table">
            <a:tbl>
              <a:tblPr bandRow="1">
                <a:tableStyleId>{5C22544A-7EE6-4342-B048-85BDC9FD1C3A}</a:tableStyleId>
              </a:tblPr>
              <a:tblGrid>
                <a:gridCol w="1483222">
                  <a:extLst>
                    <a:ext uri="{9D8B030D-6E8A-4147-A177-3AD203B41FA5}">
                      <a16:colId xmlns:a16="http://schemas.microsoft.com/office/drawing/2014/main" val="1742380137"/>
                    </a:ext>
                  </a:extLst>
                </a:gridCol>
                <a:gridCol w="5120776">
                  <a:extLst>
                    <a:ext uri="{9D8B030D-6E8A-4147-A177-3AD203B41FA5}">
                      <a16:colId xmlns:a16="http://schemas.microsoft.com/office/drawing/2014/main" val="2412837540"/>
                    </a:ext>
                  </a:extLst>
                </a:gridCol>
              </a:tblGrid>
              <a:tr h="133114">
                <a:tc>
                  <a:txBody>
                    <a:bodyPr/>
                    <a:lstStyle/>
                    <a:p>
                      <a:pPr marL="457200" lvl="1" indent="0" algn="l">
                        <a:spcAft>
                          <a:spcPts val="300"/>
                        </a:spcAft>
                        <a:buNone/>
                      </a:pPr>
                      <a:endParaRPr lang="en-GB" sz="1000" kern="1200" noProof="0">
                        <a:solidFill>
                          <a:srgbClr val="4C565C"/>
                        </a:solidFill>
                        <a:latin typeface="+mn-lt"/>
                        <a:ea typeface="+mn-ea"/>
                        <a:cs typeface="+mn-cs"/>
                      </a:endParaRPr>
                    </a:p>
                  </a:txBody>
                  <a:tcPr marL="0" marR="0" marT="0" marB="0">
                    <a:lnL w="0">
                      <a:noFill/>
                    </a:lnL>
                    <a:lnR w="0">
                      <a:noFill/>
                    </a:lnR>
                    <a:lnT w="0">
                      <a:noFill/>
                    </a:lnT>
                    <a:lnB w="0">
                      <a:noFill/>
                    </a:lnB>
                    <a:noFill/>
                  </a:tcPr>
                </a:tc>
                <a:tc>
                  <a:txBody>
                    <a:bodyPr/>
                    <a:lstStyle/>
                    <a:p>
                      <a:pPr marL="0" lvl="0" algn="l">
                        <a:buNone/>
                      </a:pPr>
                      <a:endParaRPr lang="en-GB" sz="900" kern="1200" noProof="0">
                        <a:solidFill>
                          <a:srgbClr val="4C565C"/>
                        </a:solidFill>
                        <a:latin typeface="+mn-lt"/>
                        <a:ea typeface="+mn-ea"/>
                        <a:cs typeface="+mn-cs"/>
                      </a:endParaRPr>
                    </a:p>
                  </a:txBody>
                  <a:tcPr marL="0" marR="0" marT="0" marB="0">
                    <a:lnL w="0">
                      <a:noFill/>
                    </a:lnL>
                    <a:lnR w="0">
                      <a:noFill/>
                    </a:lnR>
                    <a:lnT w="0">
                      <a:noFill/>
                    </a:lnT>
                    <a:lnB w="0">
                      <a:noFill/>
                    </a:lnB>
                    <a:noFill/>
                  </a:tcPr>
                </a:tc>
                <a:extLst>
                  <a:ext uri="{0D108BD9-81ED-4DB2-BD59-A6C34878D82A}">
                    <a16:rowId xmlns:a16="http://schemas.microsoft.com/office/drawing/2014/main" val="1882606432"/>
                  </a:ext>
                </a:extLst>
              </a:tr>
              <a:tr h="1032149">
                <a:tc>
                  <a:txBody>
                    <a:bodyPr/>
                    <a:lstStyle/>
                    <a:p>
                      <a:pPr marL="0" marR="5080" lvl="0" indent="0" algn="l" defTabSz="914400" rtl="0" eaLnBrk="1" fontAlgn="auto" latinLnBrk="0" hangingPunct="1">
                        <a:lnSpc>
                          <a:spcPct val="100000"/>
                        </a:lnSpc>
                        <a:spcBef>
                          <a:spcPts val="0"/>
                        </a:spcBef>
                        <a:spcAft>
                          <a:spcPts val="0"/>
                        </a:spcAft>
                        <a:buClrTx/>
                        <a:buSzTx/>
                        <a:buFontTx/>
                        <a:buNone/>
                        <a:tabLst/>
                        <a:defRPr/>
                      </a:pPr>
                      <a:r>
                        <a:rPr lang="en-GB" sz="1050" kern="0" spc="50" noProof="0" dirty="0">
                          <a:solidFill>
                            <a:srgbClr val="171717"/>
                          </a:solidFill>
                          <a:latin typeface="+mj-lt"/>
                          <a:ea typeface="+mn-ea"/>
                          <a:cs typeface="+mn-cs"/>
                        </a:rPr>
                        <a:t>Leading London Market Digital Placement Platform</a:t>
                      </a:r>
                    </a:p>
                  </a:txBody>
                  <a:tcPr marL="0" marR="0" marT="0" marB="0">
                    <a:lnL>
                      <a:noFill/>
                    </a:lnL>
                    <a:lnR>
                      <a:noFill/>
                    </a:lnR>
                    <a:lnT>
                      <a:noFill/>
                    </a:lnT>
                    <a:lnB>
                      <a:noFill/>
                    </a:lnB>
                    <a:noFill/>
                  </a:tcPr>
                </a:tc>
                <a:tc>
                  <a:txBody>
                    <a:bodyPr/>
                    <a:lstStyle/>
                    <a:p>
                      <a:pPr marL="0" marR="5080" lvl="0" indent="-271780" algn="l">
                        <a:lnSpc>
                          <a:spcPct val="100000"/>
                        </a:lnSpc>
                        <a:spcBef>
                          <a:spcPts val="0"/>
                        </a:spcBef>
                        <a:spcAft>
                          <a:spcPts val="0"/>
                        </a:spcAft>
                        <a:buNone/>
                      </a:pPr>
                      <a:r>
                        <a:rPr lang="en-GB" sz="1100" kern="1200" noProof="0">
                          <a:solidFill>
                            <a:srgbClr val="4C565C"/>
                          </a:solidFill>
                          <a:latin typeface="+mn-lt"/>
                          <a:ea typeface="+mn-ea"/>
                          <a:cs typeface="+mn-cs"/>
                        </a:rPr>
                        <a:t>Designed and developed a new cloud-native placement platform for the London Market insurance sector using a modern C# microservices and micro-UI architecture. Built and integrated Azure services including containers, static web apps, Bicep templates, and automated DevOps pipelines for scalable deployment. Implemented a MongoDB data layer to manage and optimise data calls across distributed services. Modernised the platform through best-practice software design patterns, creating maintainable, scalable, and future-ready solutions.</a:t>
                      </a:r>
                    </a:p>
                    <a:p>
                      <a:pPr marL="0" marR="5080" lvl="0" indent="-271780" algn="l" defTabSz="914400" rtl="0" eaLnBrk="1" fontAlgn="auto" latinLnBrk="0" hangingPunct="1">
                        <a:lnSpc>
                          <a:spcPct val="100000"/>
                        </a:lnSpc>
                        <a:spcBef>
                          <a:spcPts val="0"/>
                        </a:spcBef>
                        <a:spcAft>
                          <a:spcPts val="0"/>
                        </a:spcAft>
                        <a:buClrTx/>
                        <a:buSzTx/>
                        <a:buFontTx/>
                        <a:buNone/>
                        <a:tabLst/>
                        <a:defRPr/>
                      </a:pPr>
                      <a:endParaRPr lang="en-GB" sz="1100" kern="1200" noProof="0">
                        <a:solidFill>
                          <a:srgbClr val="4C565C"/>
                        </a:solidFill>
                        <a:latin typeface="+mn-lt"/>
                        <a:ea typeface="+mn-ea"/>
                        <a:cs typeface="+mn-cs"/>
                      </a:endParaRPr>
                    </a:p>
                  </a:txBody>
                  <a:tcPr marL="0" marR="0" marT="0" marB="0">
                    <a:lnL>
                      <a:noFill/>
                    </a:lnL>
                    <a:lnR>
                      <a:noFill/>
                    </a:lnR>
                    <a:lnT>
                      <a:noFill/>
                    </a:lnT>
                    <a:lnB>
                      <a:noFill/>
                    </a:lnB>
                    <a:noFill/>
                  </a:tcPr>
                </a:tc>
                <a:extLst>
                  <a:ext uri="{0D108BD9-81ED-4DB2-BD59-A6C34878D82A}">
                    <a16:rowId xmlns:a16="http://schemas.microsoft.com/office/drawing/2014/main" val="2067852543"/>
                  </a:ext>
                </a:extLst>
              </a:tr>
              <a:tr h="1019011">
                <a:tc>
                  <a:txBody>
                    <a:bodyPr/>
                    <a:lstStyle/>
                    <a:p>
                      <a:pPr marL="0" marR="5080" lvl="0" indent="0" algn="l" defTabSz="914400" rtl="0" eaLnBrk="1" fontAlgn="auto" latinLnBrk="0" hangingPunct="1">
                        <a:lnSpc>
                          <a:spcPct val="100000"/>
                        </a:lnSpc>
                        <a:spcBef>
                          <a:spcPts val="0"/>
                        </a:spcBef>
                        <a:spcAft>
                          <a:spcPts val="0"/>
                        </a:spcAft>
                        <a:buClrTx/>
                        <a:buSzTx/>
                        <a:buFontTx/>
                        <a:buNone/>
                        <a:tabLst/>
                        <a:defRPr/>
                      </a:pPr>
                      <a:r>
                        <a:rPr lang="en-GB" sz="1050" kern="0" spc="50" noProof="0" dirty="0">
                          <a:solidFill>
                            <a:srgbClr val="171717"/>
                          </a:solidFill>
                          <a:latin typeface="+mj-lt"/>
                          <a:ea typeface="+mn-ea"/>
                          <a:cs typeface="+mn-cs"/>
                        </a:rPr>
                        <a:t>Global FX Exchange</a:t>
                      </a:r>
                    </a:p>
                  </a:txBody>
                  <a:tcPr marL="0" marR="0" marT="0" marB="0">
                    <a:lnL>
                      <a:noFill/>
                    </a:lnL>
                    <a:lnR>
                      <a:noFill/>
                    </a:lnR>
                    <a:lnT>
                      <a:noFill/>
                    </a:lnT>
                    <a:lnB>
                      <a:noFill/>
                    </a:lnB>
                    <a:noFill/>
                  </a:tcPr>
                </a:tc>
                <a:tc>
                  <a:txBody>
                    <a:bodyPr/>
                    <a:lstStyle/>
                    <a:p>
                      <a:pPr marL="0" marR="5080" lvl="0" indent="-271780" algn="l" rtl="0" eaLnBrk="1" fontAlgn="auto" latinLnBrk="0" hangingPunct="1">
                        <a:lnSpc>
                          <a:spcPct val="100000"/>
                        </a:lnSpc>
                        <a:spcBef>
                          <a:spcPts val="0"/>
                        </a:spcBef>
                        <a:spcAft>
                          <a:spcPts val="0"/>
                        </a:spcAft>
                        <a:buClrTx/>
                        <a:buSzTx/>
                        <a:buFontTx/>
                        <a:buNone/>
                      </a:pPr>
                      <a:r>
                        <a:rPr lang="en-GB" sz="1100" kern="1200" noProof="0" dirty="0">
                          <a:solidFill>
                            <a:srgbClr val="4C565C"/>
                          </a:solidFill>
                          <a:latin typeface="+mn-lt"/>
                          <a:ea typeface="+mn-ea"/>
                          <a:cs typeface="+mn-cs"/>
                        </a:rPr>
                        <a:t>Designed and built Java microservices for real-time FX order execution and RFQ workflows requiring ultra-low latency and high responsiveness. Implemented Kafka-based event streaming to enable reliable, real-time data exchange and system decoupling. Applied test-driven development, CI/CD pipelines, and Agile practices to deliver robust, high-quality trading components with rapid iteration and continuous improvement. </a:t>
                      </a:r>
                      <a:r>
                        <a:rPr lang="en-GB" sz="1100" b="0" i="0" u="none" strike="noStrike" kern="1200" noProof="0" dirty="0">
                          <a:solidFill>
                            <a:srgbClr val="4C565C"/>
                          </a:solidFill>
                        </a:rPr>
                        <a:t>I</a:t>
                      </a:r>
                      <a:r>
                        <a:rPr lang="en-GB" sz="1100" kern="1200" noProof="0" dirty="0">
                          <a:solidFill>
                            <a:srgbClr val="4C565C"/>
                          </a:solidFill>
                          <a:latin typeface="+mn-lt"/>
                          <a:ea typeface="+mn-ea"/>
                          <a:cs typeface="+mn-cs"/>
                        </a:rPr>
                        <a:t>ntegrated PostgreSQL database connectivity for trade capture, audit, and reference data storage.</a:t>
                      </a:r>
                    </a:p>
                    <a:p>
                      <a:pPr marL="0" marR="5080" lvl="0" indent="-271780" algn="l" defTabSz="914400" rtl="0" eaLnBrk="1" fontAlgn="auto" latinLnBrk="0" hangingPunct="1">
                        <a:lnSpc>
                          <a:spcPct val="100000"/>
                        </a:lnSpc>
                        <a:spcBef>
                          <a:spcPts val="0"/>
                        </a:spcBef>
                        <a:spcAft>
                          <a:spcPts val="0"/>
                        </a:spcAft>
                        <a:buClrTx/>
                        <a:buSzTx/>
                        <a:buFontTx/>
                        <a:buNone/>
                        <a:tabLst/>
                        <a:defRPr/>
                      </a:pPr>
                      <a:endParaRPr lang="en-GB" sz="1100" kern="1200" noProof="0">
                        <a:solidFill>
                          <a:srgbClr val="4C565C"/>
                        </a:solidFill>
                        <a:latin typeface="+mn-lt"/>
                        <a:ea typeface="+mn-ea"/>
                        <a:cs typeface="+mn-cs"/>
                      </a:endParaRPr>
                    </a:p>
                  </a:txBody>
                  <a:tcPr marL="0" marR="0" marT="0" marB="0">
                    <a:lnL>
                      <a:noFill/>
                    </a:lnL>
                    <a:lnR>
                      <a:noFill/>
                    </a:lnR>
                    <a:lnT>
                      <a:noFill/>
                    </a:lnT>
                    <a:lnB>
                      <a:noFill/>
                    </a:lnB>
                    <a:noFill/>
                  </a:tcPr>
                </a:tc>
                <a:extLst>
                  <a:ext uri="{0D108BD9-81ED-4DB2-BD59-A6C34878D82A}">
                    <a16:rowId xmlns:a16="http://schemas.microsoft.com/office/drawing/2014/main" val="2861070819"/>
                  </a:ext>
                </a:extLst>
              </a:tr>
              <a:tr h="1050017">
                <a:tc>
                  <a:txBody>
                    <a:bodyPr/>
                    <a:lstStyle/>
                    <a:p>
                      <a:pPr marL="0" marR="5080" lvl="0" indent="0" algn="l" defTabSz="914400" rtl="0" eaLnBrk="1" fontAlgn="auto" latinLnBrk="0" hangingPunct="1">
                        <a:lnSpc>
                          <a:spcPct val="100000"/>
                        </a:lnSpc>
                        <a:spcBef>
                          <a:spcPts val="0"/>
                        </a:spcBef>
                        <a:spcAft>
                          <a:spcPts val="0"/>
                        </a:spcAft>
                        <a:buClrTx/>
                        <a:buSzTx/>
                        <a:buFontTx/>
                        <a:buNone/>
                        <a:tabLst/>
                        <a:defRPr/>
                      </a:pPr>
                      <a:r>
                        <a:rPr lang="en-GB" sz="1050" kern="0" spc="50" noProof="0" dirty="0">
                          <a:solidFill>
                            <a:srgbClr val="171717"/>
                          </a:solidFill>
                          <a:latin typeface="+mj-lt"/>
                          <a:ea typeface="+mn-ea"/>
                          <a:cs typeface="+mn-cs"/>
                        </a:rPr>
                        <a:t>Global Systemically Important Bank</a:t>
                      </a:r>
                    </a:p>
                  </a:txBody>
                  <a:tcPr marL="0" marR="0" marT="0" marB="0">
                    <a:lnL>
                      <a:noFill/>
                    </a:lnL>
                    <a:lnR>
                      <a:noFill/>
                    </a:lnR>
                    <a:lnT>
                      <a:noFill/>
                    </a:lnT>
                    <a:lnB>
                      <a:noFill/>
                    </a:lnB>
                    <a:noFill/>
                  </a:tcPr>
                </a:tc>
                <a:tc>
                  <a:txBody>
                    <a:bodyPr/>
                    <a:lstStyle/>
                    <a:p>
                      <a:pPr marL="0" marR="5080" lvl="0" indent="-271780" algn="l" rtl="0" eaLnBrk="1" fontAlgn="auto" latinLnBrk="0" hangingPunct="1">
                        <a:lnSpc>
                          <a:spcPct val="100000"/>
                        </a:lnSpc>
                        <a:spcBef>
                          <a:spcPts val="0"/>
                        </a:spcBef>
                        <a:spcAft>
                          <a:spcPts val="0"/>
                        </a:spcAft>
                        <a:buClrTx/>
                        <a:buSzTx/>
                        <a:buFontTx/>
                        <a:buNone/>
                      </a:pPr>
                      <a:r>
                        <a:rPr lang="en-GB" sz="1100" kern="1200" noProof="0" dirty="0">
                          <a:solidFill>
                            <a:srgbClr val="4C565C"/>
                          </a:solidFill>
                          <a:latin typeface="+mn-lt"/>
                          <a:ea typeface="+mn-ea"/>
                          <a:cs typeface="+mn-cs"/>
                        </a:rPr>
                        <a:t>Developed and enhanced core modules for a Java cash management and reconciliation platform. Created technical specifications, refactored legacy components, and automated reconciliation processes. Implemented CI/CD pipelines, API-based integration with downstream systems, and test frameworks to improve deployment speed and reliability. Used Python scripts for data evaluation / data science and connected to SQL databases for transactional data analysis and reporting.</a:t>
                      </a:r>
                    </a:p>
                    <a:p>
                      <a:pPr marL="0" marR="5080" lvl="0" indent="-271780" algn="l">
                        <a:lnSpc>
                          <a:spcPct val="100000"/>
                        </a:lnSpc>
                        <a:spcBef>
                          <a:spcPts val="0"/>
                        </a:spcBef>
                        <a:spcAft>
                          <a:spcPts val="0"/>
                        </a:spcAft>
                        <a:buClrTx/>
                        <a:buSzTx/>
                        <a:buFontTx/>
                        <a:buNone/>
                      </a:pPr>
                      <a:endParaRPr lang="en-GB" sz="1100" kern="1200" noProof="0">
                        <a:solidFill>
                          <a:srgbClr val="4C565C"/>
                        </a:solidFill>
                        <a:latin typeface="+mn-lt"/>
                        <a:ea typeface="+mn-ea"/>
                        <a:cs typeface="+mn-cs"/>
                      </a:endParaRPr>
                    </a:p>
                  </a:txBody>
                  <a:tcPr marL="0" marR="0" marT="0" marB="0">
                    <a:lnL>
                      <a:noFill/>
                    </a:lnL>
                    <a:lnR>
                      <a:noFill/>
                    </a:lnR>
                    <a:lnT>
                      <a:noFill/>
                    </a:lnT>
                    <a:lnB>
                      <a:noFill/>
                    </a:lnB>
                    <a:noFill/>
                  </a:tcPr>
                </a:tc>
                <a:extLst>
                  <a:ext uri="{0D108BD9-81ED-4DB2-BD59-A6C34878D82A}">
                    <a16:rowId xmlns:a16="http://schemas.microsoft.com/office/drawing/2014/main" val="1428288774"/>
                  </a:ext>
                </a:extLst>
              </a:tr>
              <a:tr h="995819">
                <a:tc>
                  <a:txBody>
                    <a:bodyPr/>
                    <a:lstStyle/>
                    <a:p>
                      <a:pPr marL="0" marR="5080" lvl="0" indent="0" algn="l" defTabSz="914400" rtl="0" eaLnBrk="1" fontAlgn="auto" latinLnBrk="0" hangingPunct="1">
                        <a:lnSpc>
                          <a:spcPct val="100000"/>
                        </a:lnSpc>
                        <a:spcBef>
                          <a:spcPts val="0"/>
                        </a:spcBef>
                        <a:spcAft>
                          <a:spcPts val="0"/>
                        </a:spcAft>
                        <a:buClrTx/>
                        <a:buSzTx/>
                        <a:buFontTx/>
                        <a:buNone/>
                        <a:tabLst/>
                        <a:defRPr/>
                      </a:pPr>
                      <a:r>
                        <a:rPr lang="en-GB" sz="1050" kern="0" spc="50" noProof="0" dirty="0">
                          <a:solidFill>
                            <a:srgbClr val="171717"/>
                          </a:solidFill>
                          <a:latin typeface="+mj-lt"/>
                          <a:ea typeface="+mn-ea"/>
                          <a:cs typeface="+mn-cs"/>
                        </a:rPr>
                        <a:t>Global Systemically Important Bank</a:t>
                      </a:r>
                    </a:p>
                  </a:txBody>
                  <a:tcPr marL="0" marR="0" marT="0" marB="0">
                    <a:lnL w="0">
                      <a:noFill/>
                    </a:lnL>
                    <a:lnR w="0">
                      <a:noFill/>
                    </a:lnR>
                    <a:lnT w="0">
                      <a:noFill/>
                    </a:lnT>
                    <a:lnB w="0">
                      <a:noFill/>
                    </a:lnB>
                    <a:noFill/>
                  </a:tcPr>
                </a:tc>
                <a:tc>
                  <a:txBody>
                    <a:bodyPr/>
                    <a:lstStyle/>
                    <a:p>
                      <a:pPr marL="0" marR="5080" lvl="0" indent="-271780" algn="l" defTabSz="914400" rtl="0" eaLnBrk="1" fontAlgn="auto" latinLnBrk="0" hangingPunct="1">
                        <a:lnSpc>
                          <a:spcPct val="100000"/>
                        </a:lnSpc>
                        <a:spcBef>
                          <a:spcPts val="0"/>
                        </a:spcBef>
                        <a:spcAft>
                          <a:spcPts val="0"/>
                        </a:spcAft>
                        <a:buClrTx/>
                        <a:buSzTx/>
                        <a:buFontTx/>
                        <a:buNone/>
                        <a:tabLst/>
                        <a:defRPr/>
                      </a:pPr>
                      <a:r>
                        <a:rPr lang="en-GB" sz="1100" kern="1200" noProof="0" dirty="0">
                          <a:solidFill>
                            <a:srgbClr val="4C565C"/>
                          </a:solidFill>
                          <a:latin typeface="+mn-lt"/>
                          <a:ea typeface="+mn-ea"/>
                          <a:cs typeface="+mn-cs"/>
                        </a:rPr>
                        <a:t>Developed microservices and front-end components in Java for a platform generating financial indices from market data. Built Python scripts for data processing, analysis, and automation. Integrated multiple internal and external APIs into a unified service bus, enabling seamless data exchange and streamlined system interoperability. Optimised system performance and data flows, delivering reliable, production-grade solutions.</a:t>
                      </a:r>
                    </a:p>
                  </a:txBody>
                  <a:tcPr marL="0" marR="0" marT="0" marB="0">
                    <a:lnL w="0">
                      <a:noFill/>
                    </a:lnL>
                    <a:lnR w="0">
                      <a:noFill/>
                    </a:lnR>
                    <a:lnT w="0">
                      <a:noFill/>
                    </a:lnT>
                    <a:lnB w="0">
                      <a:noFill/>
                    </a:lnB>
                    <a:noFill/>
                  </a:tcPr>
                </a:tc>
                <a:extLst>
                  <a:ext uri="{0D108BD9-81ED-4DB2-BD59-A6C34878D82A}">
                    <a16:rowId xmlns:a16="http://schemas.microsoft.com/office/drawing/2014/main" val="2632317988"/>
                  </a:ext>
                </a:extLst>
              </a:tr>
              <a:tr h="995819">
                <a:tc>
                  <a:txBody>
                    <a:bodyPr/>
                    <a:lstStyle/>
                    <a:p>
                      <a:pPr marL="0" lvl="0" indent="0" algn="l">
                        <a:lnSpc>
                          <a:spcPct val="100000"/>
                        </a:lnSpc>
                        <a:spcBef>
                          <a:spcPts val="0"/>
                        </a:spcBef>
                        <a:spcAft>
                          <a:spcPts val="0"/>
                        </a:spcAft>
                        <a:buNone/>
                      </a:pPr>
                      <a:r>
                        <a:rPr lang="en-GB" sz="1050" kern="0" spc="50" noProof="0" dirty="0">
                          <a:solidFill>
                            <a:srgbClr val="171717"/>
                          </a:solidFill>
                          <a:latin typeface="+mj-lt"/>
                          <a:ea typeface="+mn-ea"/>
                          <a:cs typeface="+mn-cs"/>
                        </a:rPr>
                        <a:t>Global Fintech </a:t>
                      </a:r>
                    </a:p>
                  </a:txBody>
                  <a:tcPr marL="0" marR="0" marT="0" marB="0">
                    <a:lnL w="0">
                      <a:noFill/>
                    </a:lnL>
                    <a:lnR w="0">
                      <a:noFill/>
                    </a:lnR>
                    <a:lnT w="0">
                      <a:noFill/>
                    </a:lnT>
                    <a:lnB w="0">
                      <a:noFill/>
                    </a:lnB>
                    <a:noFill/>
                  </a:tcPr>
                </a:tc>
                <a:tc>
                  <a:txBody>
                    <a:bodyPr/>
                    <a:lstStyle/>
                    <a:p>
                      <a:pPr marL="0" lvl="0" indent="-271780" algn="l">
                        <a:lnSpc>
                          <a:spcPct val="100000"/>
                        </a:lnSpc>
                        <a:spcBef>
                          <a:spcPts val="0"/>
                        </a:spcBef>
                        <a:spcAft>
                          <a:spcPts val="0"/>
                        </a:spcAft>
                        <a:buNone/>
                      </a:pPr>
                      <a:r>
                        <a:rPr lang="en-GB" sz="1100" kern="1200" noProof="0" dirty="0">
                          <a:solidFill>
                            <a:srgbClr val="4C565C"/>
                          </a:solidFill>
                          <a:latin typeface="+mn-lt"/>
                          <a:ea typeface="+mn-ea"/>
                          <a:cs typeface="+mn-cs"/>
                        </a:rPr>
                        <a:t>Created an extensive Webservice suite to expose the ION FX trading portal and trading blotter, enabling standardized integration across trading, risk, and back-office systems. Engineered services both in Java and C# to call and handle non-standard back-office API result types, including string data separated by special characters. Implemented robust string tokenization and parsing logic to convert raw API responses into structured object models and JSON formats, ensuring consistent and reliable data exchange across system</a:t>
                      </a:r>
                      <a:r>
                        <a:rPr lang="en-GB" sz="1100" b="0" i="0" u="none" strike="noStrike" kern="1200" noProof="0" dirty="0">
                          <a:solidFill>
                            <a:srgbClr val="4C565C"/>
                          </a:solidFill>
                          <a:latin typeface="Calibri"/>
                        </a:rPr>
                        <a:t>s.</a:t>
                      </a:r>
                      <a:endParaRPr lang="en-US" dirty="0">
                        <a:latin typeface="Calibri"/>
                      </a:endParaRPr>
                    </a:p>
                  </a:txBody>
                  <a:tcPr marL="0" marR="0" marT="0" marB="0">
                    <a:lnL w="0">
                      <a:noFill/>
                    </a:lnL>
                    <a:lnR w="0">
                      <a:noFill/>
                    </a:lnR>
                    <a:lnT w="0">
                      <a:noFill/>
                    </a:lnT>
                    <a:lnB w="0">
                      <a:noFill/>
                    </a:lnB>
                    <a:noFill/>
                  </a:tcPr>
                </a:tc>
                <a:extLst>
                  <a:ext uri="{0D108BD9-81ED-4DB2-BD59-A6C34878D82A}">
                    <a16:rowId xmlns:a16="http://schemas.microsoft.com/office/drawing/2014/main" val="4130617639"/>
                  </a:ext>
                </a:extLst>
              </a:tr>
            </a:tbl>
          </a:graphicData>
        </a:graphic>
      </p:graphicFrame>
    </p:spTree>
    <p:extLst>
      <p:ext uri="{BB962C8B-B14F-4D97-AF65-F5344CB8AC3E}">
        <p14:creationId xmlns:p14="http://schemas.microsoft.com/office/powerpoint/2010/main" val="1262150930"/>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EF325DBAA2AA04189218294F806D592" ma:contentTypeVersion="19" ma:contentTypeDescription="Create a new document." ma:contentTypeScope="" ma:versionID="55308c5c2cafb93467f42847fb8ea545">
  <xsd:schema xmlns:xsd="http://www.w3.org/2001/XMLSchema" xmlns:xs="http://www.w3.org/2001/XMLSchema" xmlns:p="http://schemas.microsoft.com/office/2006/metadata/properties" xmlns:ns2="e623b38d-c367-4d58-8eb6-b4ce6998f19b" xmlns:ns3="c7638ba2-7af8-4996-b3aa-a9907f187b8b" targetNamespace="http://schemas.microsoft.com/office/2006/metadata/properties" ma:root="true" ma:fieldsID="c62dbc4eca515360e739c2168baf5dbc" ns2:_="" ns3:_="">
    <xsd:import namespace="e623b38d-c367-4d58-8eb6-b4ce6998f19b"/>
    <xsd:import namespace="c7638ba2-7af8-4996-b3aa-a9907f187b8b"/>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2:MediaLengthInSeconds" minOccurs="0"/>
                <xsd:element ref="ns2:lcf76f155ced4ddcb4097134ff3c332f" minOccurs="0"/>
                <xsd:element ref="ns3:TaxCatchAll" minOccurs="0"/>
                <xsd:element ref="ns2:Document_x0020_Access_x0020_Leve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623b38d-c367-4d58-8eb6-b4ce6998f19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21b88764-36e5-4e99-a5d1-6a0b181b4594" ma:termSetId="09814cd3-568e-fe90-9814-8d621ff8fb84" ma:anchorId="fba54fb3-c3e1-fe81-a776-ca4b69148c4d" ma:open="true" ma:isKeyword="false">
      <xsd:complexType>
        <xsd:sequence>
          <xsd:element ref="pc:Terms" minOccurs="0" maxOccurs="1"/>
        </xsd:sequence>
      </xsd:complexType>
    </xsd:element>
    <xsd:element name="Document_x0020_Access_x0020_Level" ma:index="24" nillable="true" ma:displayName="Document Access Level" ma:default="Restricted" ma:format="Dropdown" ma:internalName="Document_x0020_Access_x0020_Level">
      <xsd:simpleType>
        <xsd:restriction base="dms:Choice">
          <xsd:enumeration value="Standard"/>
          <xsd:enumeration value="Restricted"/>
          <xsd:enumeration value="Highly Restricted"/>
        </xsd:restriction>
      </xsd:simple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7638ba2-7af8-4996-b3aa-a9907f187b8b"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abbd5fba-1290-48fe-b893-61a511f94b4a}" ma:internalName="TaxCatchAll" ma:showField="CatchAllData" ma:web="c7638ba2-7af8-4996-b3aa-a9907f187b8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Document_x0020_Access_x0020_Level xmlns="e623b38d-c367-4d58-8eb6-b4ce6998f19b">Restricted</Document_x0020_Access_x0020_Level>
    <lcf76f155ced4ddcb4097134ff3c332f xmlns="e623b38d-c367-4d58-8eb6-b4ce6998f19b">
      <Terms xmlns="http://schemas.microsoft.com/office/infopath/2007/PartnerControls"/>
    </lcf76f155ced4ddcb4097134ff3c332f>
    <TaxCatchAll xmlns="c7638ba2-7af8-4996-b3aa-a9907f187b8b" xsi:nil="true"/>
  </documentManagement>
</p:properties>
</file>

<file path=customXml/itemProps1.xml><?xml version="1.0" encoding="utf-8"?>
<ds:datastoreItem xmlns:ds="http://schemas.openxmlformats.org/officeDocument/2006/customXml" ds:itemID="{90F3ED7C-BD23-46D1-BF4C-D994A5D14FF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623b38d-c367-4d58-8eb6-b4ce6998f19b"/>
    <ds:schemaRef ds:uri="c7638ba2-7af8-4996-b3aa-a9907f187b8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96A8CEB-3438-4987-B662-3C9F19589771}">
  <ds:schemaRefs>
    <ds:schemaRef ds:uri="http://schemas.microsoft.com/sharepoint/v3/contenttype/forms"/>
  </ds:schemaRefs>
</ds:datastoreItem>
</file>

<file path=customXml/itemProps3.xml><?xml version="1.0" encoding="utf-8"?>
<ds:datastoreItem xmlns:ds="http://schemas.openxmlformats.org/officeDocument/2006/customXml" ds:itemID="{3D1F0D08-78DB-4998-BB4F-A4B7B1422C5A}">
  <ds:schemaRefs>
    <ds:schemaRef ds:uri="http://schemas.microsoft.com/office/2006/metadata/properties"/>
    <ds:schemaRef ds:uri="http://schemas.microsoft.com/office/infopath/2007/PartnerControls"/>
    <ds:schemaRef ds:uri="e623b38d-c367-4d58-8eb6-b4ce6998f19b"/>
    <ds:schemaRef ds:uri="c7638ba2-7af8-4996-b3aa-a9907f187b8b"/>
  </ds:schemaRefs>
</ds:datastoreItem>
</file>

<file path=docMetadata/LabelInfo.xml><?xml version="1.0" encoding="utf-8"?>
<clbl:labelList xmlns:clbl="http://schemas.microsoft.com/office/2020/mipLabelMetadata">
  <clbl:label id="{68806974-032c-4a81-90c9-0d775a0a9db8}" enabled="0" method="" siteId="{68806974-032c-4a81-90c9-0d775a0a9db8}" removed="1"/>
</clbl:labelList>
</file>

<file path=docProps/app.xml><?xml version="1.0" encoding="utf-8"?>
<Properties xmlns="http://schemas.openxmlformats.org/officeDocument/2006/extended-properties" xmlns:vt="http://schemas.openxmlformats.org/officeDocument/2006/docPropsVTypes">
  <TotalTime>163</TotalTime>
  <Words>2024</Words>
  <Application>Microsoft Office PowerPoint</Application>
  <PresentationFormat>Widescreen</PresentationFormat>
  <Paragraphs>93</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Gill Sans MT</vt:lpstr>
      <vt:lpstr>1_Office Theme</vt:lpstr>
      <vt:lpstr>BIP</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Orme, Lisa (Bip Group)</dc:creator>
  <cp:lastModifiedBy>Andrew Pincherle</cp:lastModifiedBy>
  <cp:revision>9</cp:revision>
  <dcterms:created xsi:type="dcterms:W3CDTF">2025-07-16T14:01:02Z</dcterms:created>
  <dcterms:modified xsi:type="dcterms:W3CDTF">2025-11-07T14:31:45Z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0x0101002EF325DBAA2AA04189218294F806D592</vt:lpwstr>
  </property>
  <property fmtid="{D5CDD505-2E9C-101B-9397-08002B2CF9AE}" pid="3" name="MediaServiceImageTags">
    <vt:lpwstr/>
  </property>
</Properties>
</file>